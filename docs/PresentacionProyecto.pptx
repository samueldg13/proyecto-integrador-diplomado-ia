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Raleway Bold" charset="1" panose="00000000000000000000"/>
      <p:regular r:id="rId21"/>
    </p:embeddedFont>
    <p:embeddedFont>
      <p:font typeface="Montaser Arabic" charset="1" panose="000005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 Id="rId4" Target="../media/image16.jpeg" Type="http://schemas.openxmlformats.org/officeDocument/2006/relationships/image"/><Relationship Id="rId5" Target="../media/image17.png" Type="http://schemas.openxmlformats.org/officeDocument/2006/relationships/image"/><Relationship Id="rId6" Target="../media/image18.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20.png" Type="http://schemas.openxmlformats.org/officeDocument/2006/relationships/image"/><Relationship Id="rId6" Target="../media/image21.svg" Type="http://schemas.openxmlformats.org/officeDocument/2006/relationships/image"/><Relationship Id="rId7" Target="../media/image22.png" Type="http://schemas.openxmlformats.org/officeDocument/2006/relationships/image"/><Relationship Id="rId8" Target="../media/image2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22.png" Type="http://schemas.openxmlformats.org/officeDocument/2006/relationships/image"/><Relationship Id="rId5" Target="../media/image23.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24.pn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2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2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2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28.png" Type="http://schemas.openxmlformats.org/officeDocument/2006/relationships/image"/><Relationship Id="rId5" Target="../embeddings/oleObject1.bin" Type="http://schemas.openxmlformats.org/officeDocument/2006/relationships/oleObjec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29.pn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22.png" Type="http://schemas.openxmlformats.org/officeDocument/2006/relationships/image"/><Relationship Id="rId5" Target="../media/image23.svg" Type="http://schemas.openxmlformats.org/officeDocument/2006/relationships/image"/><Relationship Id="rId6" Target="../media/image30.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7416B"/>
        </a:solidFill>
      </p:bgPr>
    </p:bg>
    <p:spTree>
      <p:nvGrpSpPr>
        <p:cNvPr id="1" name=""/>
        <p:cNvGrpSpPr/>
        <p:nvPr/>
      </p:nvGrpSpPr>
      <p:grpSpPr>
        <a:xfrm>
          <a:off x="0" y="0"/>
          <a:ext cx="0" cy="0"/>
          <a:chOff x="0" y="0"/>
          <a:chExt cx="0" cy="0"/>
        </a:xfrm>
      </p:grpSpPr>
      <p:sp>
        <p:nvSpPr>
          <p:cNvPr name="Freeform 2" id="2"/>
          <p:cNvSpPr/>
          <p:nvPr/>
        </p:nvSpPr>
        <p:spPr>
          <a:xfrm flipH="false" flipV="false" rot="0">
            <a:off x="11271398" y="4080355"/>
            <a:ext cx="7239974" cy="6594409"/>
          </a:xfrm>
          <a:custGeom>
            <a:avLst/>
            <a:gdLst/>
            <a:ahLst/>
            <a:cxnLst/>
            <a:rect r="r" b="b" t="t" l="l"/>
            <a:pathLst>
              <a:path h="6594409" w="7239974">
                <a:moveTo>
                  <a:pt x="0" y="0"/>
                </a:moveTo>
                <a:lnTo>
                  <a:pt x="7239974" y="0"/>
                </a:lnTo>
                <a:lnTo>
                  <a:pt x="7239974" y="6594410"/>
                </a:lnTo>
                <a:lnTo>
                  <a:pt x="0" y="65944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5400000">
            <a:off x="1459514" y="-1673036"/>
            <a:ext cx="2794156" cy="5846533"/>
          </a:xfrm>
          <a:custGeom>
            <a:avLst/>
            <a:gdLst/>
            <a:ahLst/>
            <a:cxnLst/>
            <a:rect r="r" b="b" t="t" l="l"/>
            <a:pathLst>
              <a:path h="5846533" w="2794156">
                <a:moveTo>
                  <a:pt x="0" y="5846533"/>
                </a:moveTo>
                <a:lnTo>
                  <a:pt x="2794156" y="5846533"/>
                </a:lnTo>
                <a:lnTo>
                  <a:pt x="2794156" y="0"/>
                </a:lnTo>
                <a:lnTo>
                  <a:pt x="0" y="0"/>
                </a:lnTo>
                <a:lnTo>
                  <a:pt x="0" y="5846533"/>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028700" y="3330494"/>
            <a:ext cx="14491076" cy="3228448"/>
            <a:chOff x="0" y="0"/>
            <a:chExt cx="19321435" cy="4304597"/>
          </a:xfrm>
        </p:grpSpPr>
        <p:sp>
          <p:nvSpPr>
            <p:cNvPr name="TextBox 5" id="5"/>
            <p:cNvSpPr txBox="true"/>
            <p:nvPr/>
          </p:nvSpPr>
          <p:spPr>
            <a:xfrm rot="0">
              <a:off x="0" y="85725"/>
              <a:ext cx="17330134" cy="1978920"/>
            </a:xfrm>
            <a:prstGeom prst="rect">
              <a:avLst/>
            </a:prstGeom>
          </p:spPr>
          <p:txBody>
            <a:bodyPr anchor="t" rtlCol="false" tIns="0" lIns="0" bIns="0" rIns="0">
              <a:spAutoFit/>
            </a:bodyPr>
            <a:lstStyle/>
            <a:p>
              <a:pPr algn="l" marL="0" indent="0" lvl="0">
                <a:lnSpc>
                  <a:spcPts val="11195"/>
                </a:lnSpc>
              </a:pPr>
              <a:r>
                <a:rPr lang="en-US" b="true" sz="10177">
                  <a:solidFill>
                    <a:srgbClr val="FFFFFF"/>
                  </a:solidFill>
                  <a:latin typeface="Raleway Bold"/>
                  <a:ea typeface="Raleway Bold"/>
                  <a:cs typeface="Raleway Bold"/>
                  <a:sym typeface="Raleway Bold"/>
                </a:rPr>
                <a:t>Proyecto Integrador</a:t>
              </a:r>
            </a:p>
          </p:txBody>
        </p:sp>
        <p:sp>
          <p:nvSpPr>
            <p:cNvPr name="TextBox 6" id="6"/>
            <p:cNvSpPr txBox="true"/>
            <p:nvPr/>
          </p:nvSpPr>
          <p:spPr>
            <a:xfrm rot="0">
              <a:off x="0" y="2599622"/>
              <a:ext cx="19321435" cy="1704975"/>
            </a:xfrm>
            <a:prstGeom prst="rect">
              <a:avLst/>
            </a:prstGeom>
          </p:spPr>
          <p:txBody>
            <a:bodyPr anchor="t" rtlCol="false" tIns="0" lIns="0" bIns="0" rIns="0">
              <a:spAutoFit/>
            </a:bodyPr>
            <a:lstStyle/>
            <a:p>
              <a:pPr algn="l">
                <a:lnSpc>
                  <a:spcPts val="4950"/>
                </a:lnSpc>
              </a:pPr>
              <a:r>
                <a:rPr lang="en-US" sz="4500">
                  <a:solidFill>
                    <a:srgbClr val="FFFFFF"/>
                  </a:solidFill>
                  <a:latin typeface="Montaser Arabic"/>
                  <a:ea typeface="Montaser Arabic"/>
                  <a:cs typeface="Montaser Arabic"/>
                  <a:sym typeface="Montaser Arabic"/>
                </a:rPr>
                <a:t>Samuel Martínez</a:t>
              </a:r>
            </a:p>
            <a:p>
              <a:pPr algn="l" marL="0" indent="0" lvl="0">
                <a:lnSpc>
                  <a:spcPts val="4950"/>
                </a:lnSpc>
              </a:pPr>
              <a:r>
                <a:rPr lang="en-US" sz="4500">
                  <a:solidFill>
                    <a:srgbClr val="FFFFFF"/>
                  </a:solidFill>
                  <a:latin typeface="Montaser Arabic"/>
                  <a:ea typeface="Montaser Arabic"/>
                  <a:cs typeface="Montaser Arabic"/>
                  <a:sym typeface="Montaser Arabic"/>
                </a:rPr>
                <a:t>IA &amp; APRENDIZAJE AUTOMÁTICO EN CIENCIAS</a:t>
              </a:r>
            </a:p>
          </p:txBody>
        </p:sp>
      </p:grpSp>
      <p:sp>
        <p:nvSpPr>
          <p:cNvPr name="Freeform 7" id="7"/>
          <p:cNvSpPr/>
          <p:nvPr/>
        </p:nvSpPr>
        <p:spPr>
          <a:xfrm flipH="false" flipV="false" rot="0">
            <a:off x="-620625" y="8509786"/>
            <a:ext cx="4527362" cy="1011111"/>
          </a:xfrm>
          <a:custGeom>
            <a:avLst/>
            <a:gdLst/>
            <a:ahLst/>
            <a:cxnLst/>
            <a:rect r="r" b="b" t="t" l="l"/>
            <a:pathLst>
              <a:path h="1011111" w="4527362">
                <a:moveTo>
                  <a:pt x="0" y="0"/>
                </a:moveTo>
                <a:lnTo>
                  <a:pt x="4527362" y="0"/>
                </a:lnTo>
                <a:lnTo>
                  <a:pt x="4527362" y="1011110"/>
                </a:lnTo>
                <a:lnTo>
                  <a:pt x="0" y="101111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4381263" y="766104"/>
            <a:ext cx="4527362" cy="1011111"/>
          </a:xfrm>
          <a:custGeom>
            <a:avLst/>
            <a:gdLst/>
            <a:ahLst/>
            <a:cxnLst/>
            <a:rect r="r" b="b" t="t" l="l"/>
            <a:pathLst>
              <a:path h="1011111" w="4527362">
                <a:moveTo>
                  <a:pt x="0" y="0"/>
                </a:moveTo>
                <a:lnTo>
                  <a:pt x="4527362" y="0"/>
                </a:lnTo>
                <a:lnTo>
                  <a:pt x="4527362" y="1011110"/>
                </a:lnTo>
                <a:lnTo>
                  <a:pt x="0" y="101111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7416B"/>
        </a:solidFill>
      </p:bgPr>
    </p:bg>
    <p:spTree>
      <p:nvGrpSpPr>
        <p:cNvPr id="1" name=""/>
        <p:cNvGrpSpPr/>
        <p:nvPr/>
      </p:nvGrpSpPr>
      <p:grpSpPr>
        <a:xfrm>
          <a:off x="0" y="0"/>
          <a:ext cx="0" cy="0"/>
          <a:chOff x="0" y="0"/>
          <a:chExt cx="0" cy="0"/>
        </a:xfrm>
      </p:grpSpPr>
      <p:grpSp>
        <p:nvGrpSpPr>
          <p:cNvPr name="Group 2" id="2"/>
          <p:cNvGrpSpPr/>
          <p:nvPr/>
        </p:nvGrpSpPr>
        <p:grpSpPr>
          <a:xfrm rot="0">
            <a:off x="5125139" y="1255024"/>
            <a:ext cx="771999" cy="771999"/>
            <a:chOff x="0" y="0"/>
            <a:chExt cx="6350000" cy="6350000"/>
          </a:xfrm>
        </p:grpSpPr>
        <p:sp>
          <p:nvSpPr>
            <p:cNvPr name="Freeform 3" id="3"/>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17CC2"/>
            </a:solidFill>
          </p:spPr>
        </p:sp>
      </p:grpSp>
      <p:grpSp>
        <p:nvGrpSpPr>
          <p:cNvPr name="Group 4" id="4"/>
          <p:cNvGrpSpPr/>
          <p:nvPr/>
        </p:nvGrpSpPr>
        <p:grpSpPr>
          <a:xfrm rot="0">
            <a:off x="5125139" y="2416509"/>
            <a:ext cx="771999" cy="771999"/>
            <a:chOff x="0" y="0"/>
            <a:chExt cx="6350000" cy="6350000"/>
          </a:xfrm>
        </p:grpSpPr>
        <p:sp>
          <p:nvSpPr>
            <p:cNvPr name="Freeform 5" id="5"/>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17CC2"/>
            </a:solidFill>
          </p:spPr>
        </p:sp>
      </p:grpSp>
      <p:grpSp>
        <p:nvGrpSpPr>
          <p:cNvPr name="Group 6" id="6"/>
          <p:cNvGrpSpPr/>
          <p:nvPr/>
        </p:nvGrpSpPr>
        <p:grpSpPr>
          <a:xfrm rot="0">
            <a:off x="5125139" y="4975515"/>
            <a:ext cx="771999" cy="771999"/>
            <a:chOff x="0" y="0"/>
            <a:chExt cx="6350000" cy="6350000"/>
          </a:xfrm>
        </p:grpSpPr>
        <p:sp>
          <p:nvSpPr>
            <p:cNvPr name="Freeform 7" id="7"/>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17CC2"/>
            </a:solidFill>
          </p:spPr>
        </p:sp>
      </p:grpSp>
      <p:grpSp>
        <p:nvGrpSpPr>
          <p:cNvPr name="Group 8" id="8"/>
          <p:cNvGrpSpPr/>
          <p:nvPr/>
        </p:nvGrpSpPr>
        <p:grpSpPr>
          <a:xfrm rot="0">
            <a:off x="5125139" y="3677122"/>
            <a:ext cx="771999" cy="771999"/>
            <a:chOff x="0" y="0"/>
            <a:chExt cx="6350000" cy="6350000"/>
          </a:xfrm>
        </p:grpSpPr>
        <p:sp>
          <p:nvSpPr>
            <p:cNvPr name="Freeform 9" id="9"/>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17CC2"/>
            </a:solidFill>
          </p:spPr>
        </p:sp>
      </p:grpSp>
      <p:grpSp>
        <p:nvGrpSpPr>
          <p:cNvPr name="Group 10" id="10"/>
          <p:cNvGrpSpPr/>
          <p:nvPr/>
        </p:nvGrpSpPr>
        <p:grpSpPr>
          <a:xfrm rot="0">
            <a:off x="5125139" y="6202989"/>
            <a:ext cx="771999" cy="771999"/>
            <a:chOff x="0" y="0"/>
            <a:chExt cx="6350000" cy="6350000"/>
          </a:xfrm>
        </p:grpSpPr>
        <p:sp>
          <p:nvSpPr>
            <p:cNvPr name="Freeform 11" id="11"/>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17CC2"/>
            </a:solidFill>
          </p:spPr>
        </p:sp>
      </p:grpSp>
      <p:sp>
        <p:nvSpPr>
          <p:cNvPr name="Freeform 12" id="12"/>
          <p:cNvSpPr/>
          <p:nvPr/>
        </p:nvSpPr>
        <p:spPr>
          <a:xfrm flipH="true" flipV="false" rot="0">
            <a:off x="-387782" y="4744664"/>
            <a:ext cx="4627096" cy="5712464"/>
          </a:xfrm>
          <a:custGeom>
            <a:avLst/>
            <a:gdLst/>
            <a:ahLst/>
            <a:cxnLst/>
            <a:rect r="r" b="b" t="t" l="l"/>
            <a:pathLst>
              <a:path h="5712464" w="4627096">
                <a:moveTo>
                  <a:pt x="4627096" y="0"/>
                </a:moveTo>
                <a:lnTo>
                  <a:pt x="0" y="0"/>
                </a:lnTo>
                <a:lnTo>
                  <a:pt x="0" y="5712465"/>
                </a:lnTo>
                <a:lnTo>
                  <a:pt x="4627096" y="5712465"/>
                </a:lnTo>
                <a:lnTo>
                  <a:pt x="462709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3" id="13"/>
          <p:cNvSpPr txBox="true"/>
          <p:nvPr/>
        </p:nvSpPr>
        <p:spPr>
          <a:xfrm rot="0">
            <a:off x="6540957" y="997133"/>
            <a:ext cx="7322748" cy="963930"/>
          </a:xfrm>
          <a:prstGeom prst="rect">
            <a:avLst/>
          </a:prstGeom>
        </p:spPr>
        <p:txBody>
          <a:bodyPr anchor="t" rtlCol="false" tIns="0" lIns="0" bIns="0" rIns="0">
            <a:spAutoFit/>
          </a:bodyPr>
          <a:lstStyle/>
          <a:p>
            <a:pPr algn="l">
              <a:lnSpc>
                <a:spcPts val="8400"/>
              </a:lnSpc>
            </a:pPr>
            <a:r>
              <a:rPr lang="en-US" sz="4200">
                <a:solidFill>
                  <a:srgbClr val="FFFFFF"/>
                </a:solidFill>
                <a:latin typeface="Montaser Arabic"/>
                <a:ea typeface="Montaser Arabic"/>
                <a:cs typeface="Montaser Arabic"/>
                <a:sym typeface="Montaser Arabic"/>
              </a:rPr>
              <a:t>Introducción</a:t>
            </a:r>
          </a:p>
        </p:txBody>
      </p:sp>
      <p:sp>
        <p:nvSpPr>
          <p:cNvPr name="TextBox 14" id="14"/>
          <p:cNvSpPr txBox="true"/>
          <p:nvPr/>
        </p:nvSpPr>
        <p:spPr>
          <a:xfrm rot="0">
            <a:off x="6540957" y="2158618"/>
            <a:ext cx="7322748" cy="963930"/>
          </a:xfrm>
          <a:prstGeom prst="rect">
            <a:avLst/>
          </a:prstGeom>
        </p:spPr>
        <p:txBody>
          <a:bodyPr anchor="t" rtlCol="false" tIns="0" lIns="0" bIns="0" rIns="0">
            <a:spAutoFit/>
          </a:bodyPr>
          <a:lstStyle/>
          <a:p>
            <a:pPr algn="l" marL="0" indent="0" lvl="1">
              <a:lnSpc>
                <a:spcPts val="8400"/>
              </a:lnSpc>
              <a:spcBef>
                <a:spcPct val="0"/>
              </a:spcBef>
            </a:pPr>
            <a:r>
              <a:rPr lang="en-US" sz="4200">
                <a:solidFill>
                  <a:srgbClr val="FFFFFF"/>
                </a:solidFill>
                <a:latin typeface="Montaser Arabic"/>
                <a:ea typeface="Montaser Arabic"/>
                <a:cs typeface="Montaser Arabic"/>
                <a:sym typeface="Montaser Arabic"/>
              </a:rPr>
              <a:t>Comprensión del Negocio </a:t>
            </a:r>
          </a:p>
        </p:txBody>
      </p:sp>
      <p:sp>
        <p:nvSpPr>
          <p:cNvPr name="TextBox 15" id="15"/>
          <p:cNvSpPr txBox="true"/>
          <p:nvPr/>
        </p:nvSpPr>
        <p:spPr>
          <a:xfrm rot="0">
            <a:off x="6540957" y="3419231"/>
            <a:ext cx="7322748" cy="963930"/>
          </a:xfrm>
          <a:prstGeom prst="rect">
            <a:avLst/>
          </a:prstGeom>
        </p:spPr>
        <p:txBody>
          <a:bodyPr anchor="t" rtlCol="false" tIns="0" lIns="0" bIns="0" rIns="0">
            <a:spAutoFit/>
          </a:bodyPr>
          <a:lstStyle/>
          <a:p>
            <a:pPr algn="l" marL="0" indent="0" lvl="1">
              <a:lnSpc>
                <a:spcPts val="8400"/>
              </a:lnSpc>
              <a:spcBef>
                <a:spcPct val="0"/>
              </a:spcBef>
            </a:pPr>
            <a:r>
              <a:rPr lang="en-US" sz="4200">
                <a:solidFill>
                  <a:srgbClr val="FFFFFF"/>
                </a:solidFill>
                <a:latin typeface="Montaser Arabic"/>
                <a:ea typeface="Montaser Arabic"/>
                <a:cs typeface="Montaser Arabic"/>
                <a:sym typeface="Montaser Arabic"/>
              </a:rPr>
              <a:t>Comprensión de los Datos</a:t>
            </a:r>
          </a:p>
        </p:txBody>
      </p:sp>
      <p:sp>
        <p:nvSpPr>
          <p:cNvPr name="Freeform 16" id="16"/>
          <p:cNvSpPr/>
          <p:nvPr/>
        </p:nvSpPr>
        <p:spPr>
          <a:xfrm flipH="true" flipV="false" rot="0">
            <a:off x="13643065" y="-227459"/>
            <a:ext cx="4854933" cy="5396868"/>
          </a:xfrm>
          <a:custGeom>
            <a:avLst/>
            <a:gdLst/>
            <a:ahLst/>
            <a:cxnLst/>
            <a:rect r="r" b="b" t="t" l="l"/>
            <a:pathLst>
              <a:path h="5396868" w="4854933">
                <a:moveTo>
                  <a:pt x="4854932" y="0"/>
                </a:moveTo>
                <a:lnTo>
                  <a:pt x="0" y="0"/>
                </a:lnTo>
                <a:lnTo>
                  <a:pt x="0" y="5396868"/>
                </a:lnTo>
                <a:lnTo>
                  <a:pt x="4854932" y="5396868"/>
                </a:lnTo>
                <a:lnTo>
                  <a:pt x="4854932"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false" flipV="false" rot="-10800000">
            <a:off x="14746112" y="8752745"/>
            <a:ext cx="4527362" cy="1011111"/>
          </a:xfrm>
          <a:custGeom>
            <a:avLst/>
            <a:gdLst/>
            <a:ahLst/>
            <a:cxnLst/>
            <a:rect r="r" b="b" t="t" l="l"/>
            <a:pathLst>
              <a:path h="1011111" w="4527362">
                <a:moveTo>
                  <a:pt x="0" y="0"/>
                </a:moveTo>
                <a:lnTo>
                  <a:pt x="4527361" y="0"/>
                </a:lnTo>
                <a:lnTo>
                  <a:pt x="4527361" y="1011110"/>
                </a:lnTo>
                <a:lnTo>
                  <a:pt x="0" y="101111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8" id="18"/>
          <p:cNvSpPr txBox="true"/>
          <p:nvPr/>
        </p:nvSpPr>
        <p:spPr>
          <a:xfrm rot="0">
            <a:off x="5238533" y="1225543"/>
            <a:ext cx="545211" cy="688086"/>
          </a:xfrm>
          <a:prstGeom prst="rect">
            <a:avLst/>
          </a:prstGeom>
        </p:spPr>
        <p:txBody>
          <a:bodyPr anchor="t" rtlCol="false" tIns="0" lIns="0" bIns="0" rIns="0">
            <a:spAutoFit/>
          </a:bodyPr>
          <a:lstStyle/>
          <a:p>
            <a:pPr algn="ctr">
              <a:lnSpc>
                <a:spcPts val="5652"/>
              </a:lnSpc>
            </a:pPr>
            <a:r>
              <a:rPr lang="en-US" b="true" sz="3600">
                <a:solidFill>
                  <a:srgbClr val="FFFFFF"/>
                </a:solidFill>
                <a:latin typeface="Raleway Bold"/>
                <a:ea typeface="Raleway Bold"/>
                <a:cs typeface="Raleway Bold"/>
                <a:sym typeface="Raleway Bold"/>
              </a:rPr>
              <a:t>1</a:t>
            </a:r>
          </a:p>
        </p:txBody>
      </p:sp>
      <p:sp>
        <p:nvSpPr>
          <p:cNvPr name="TextBox 19" id="19"/>
          <p:cNvSpPr txBox="true"/>
          <p:nvPr/>
        </p:nvSpPr>
        <p:spPr>
          <a:xfrm rot="0">
            <a:off x="5238533" y="2387028"/>
            <a:ext cx="545211" cy="688086"/>
          </a:xfrm>
          <a:prstGeom prst="rect">
            <a:avLst/>
          </a:prstGeom>
        </p:spPr>
        <p:txBody>
          <a:bodyPr anchor="t" rtlCol="false" tIns="0" lIns="0" bIns="0" rIns="0">
            <a:spAutoFit/>
          </a:bodyPr>
          <a:lstStyle/>
          <a:p>
            <a:pPr algn="ctr" marL="0" indent="0" lvl="1">
              <a:lnSpc>
                <a:spcPts val="5652"/>
              </a:lnSpc>
              <a:spcBef>
                <a:spcPct val="0"/>
              </a:spcBef>
            </a:pPr>
            <a:r>
              <a:rPr lang="en-US" b="true" sz="3600" u="none">
                <a:solidFill>
                  <a:srgbClr val="FFFFFF"/>
                </a:solidFill>
                <a:latin typeface="Raleway Bold"/>
                <a:ea typeface="Raleway Bold"/>
                <a:cs typeface="Raleway Bold"/>
                <a:sym typeface="Raleway Bold"/>
              </a:rPr>
              <a:t>2</a:t>
            </a:r>
          </a:p>
        </p:txBody>
      </p:sp>
      <p:sp>
        <p:nvSpPr>
          <p:cNvPr name="TextBox 20" id="20"/>
          <p:cNvSpPr txBox="true"/>
          <p:nvPr/>
        </p:nvSpPr>
        <p:spPr>
          <a:xfrm rot="0">
            <a:off x="6540957" y="4717625"/>
            <a:ext cx="7322748" cy="963930"/>
          </a:xfrm>
          <a:prstGeom prst="rect">
            <a:avLst/>
          </a:prstGeom>
        </p:spPr>
        <p:txBody>
          <a:bodyPr anchor="t" rtlCol="false" tIns="0" lIns="0" bIns="0" rIns="0">
            <a:spAutoFit/>
          </a:bodyPr>
          <a:lstStyle/>
          <a:p>
            <a:pPr algn="l" marL="0" indent="0" lvl="1">
              <a:lnSpc>
                <a:spcPts val="8400"/>
              </a:lnSpc>
              <a:spcBef>
                <a:spcPct val="0"/>
              </a:spcBef>
            </a:pPr>
            <a:r>
              <a:rPr lang="en-US" sz="4200">
                <a:solidFill>
                  <a:srgbClr val="FFFFFF"/>
                </a:solidFill>
                <a:latin typeface="Montaser Arabic"/>
                <a:ea typeface="Montaser Arabic"/>
                <a:cs typeface="Montaser Arabic"/>
                <a:sym typeface="Montaser Arabic"/>
              </a:rPr>
              <a:t>Preparación de los Datos </a:t>
            </a:r>
          </a:p>
        </p:txBody>
      </p:sp>
      <p:sp>
        <p:nvSpPr>
          <p:cNvPr name="TextBox 21" id="21"/>
          <p:cNvSpPr txBox="true"/>
          <p:nvPr/>
        </p:nvSpPr>
        <p:spPr>
          <a:xfrm rot="0">
            <a:off x="5238533" y="4946034"/>
            <a:ext cx="545211" cy="688086"/>
          </a:xfrm>
          <a:prstGeom prst="rect">
            <a:avLst/>
          </a:prstGeom>
        </p:spPr>
        <p:txBody>
          <a:bodyPr anchor="t" rtlCol="false" tIns="0" lIns="0" bIns="0" rIns="0">
            <a:spAutoFit/>
          </a:bodyPr>
          <a:lstStyle/>
          <a:p>
            <a:pPr algn="ctr" marL="0" indent="0" lvl="1">
              <a:lnSpc>
                <a:spcPts val="5652"/>
              </a:lnSpc>
              <a:spcBef>
                <a:spcPct val="0"/>
              </a:spcBef>
            </a:pPr>
            <a:r>
              <a:rPr lang="en-US" b="true" sz="3600" u="none">
                <a:solidFill>
                  <a:srgbClr val="FFFFFF"/>
                </a:solidFill>
                <a:latin typeface="Raleway Bold"/>
                <a:ea typeface="Raleway Bold"/>
                <a:cs typeface="Raleway Bold"/>
                <a:sym typeface="Raleway Bold"/>
              </a:rPr>
              <a:t>4</a:t>
            </a:r>
          </a:p>
        </p:txBody>
      </p:sp>
      <p:sp>
        <p:nvSpPr>
          <p:cNvPr name="TextBox 22" id="22"/>
          <p:cNvSpPr txBox="true"/>
          <p:nvPr/>
        </p:nvSpPr>
        <p:spPr>
          <a:xfrm rot="0">
            <a:off x="5238533" y="3647641"/>
            <a:ext cx="545211" cy="688086"/>
          </a:xfrm>
          <a:prstGeom prst="rect">
            <a:avLst/>
          </a:prstGeom>
        </p:spPr>
        <p:txBody>
          <a:bodyPr anchor="t" rtlCol="false" tIns="0" lIns="0" bIns="0" rIns="0">
            <a:spAutoFit/>
          </a:bodyPr>
          <a:lstStyle/>
          <a:p>
            <a:pPr algn="ctr" marL="0" indent="0" lvl="1">
              <a:lnSpc>
                <a:spcPts val="5652"/>
              </a:lnSpc>
              <a:spcBef>
                <a:spcPct val="0"/>
              </a:spcBef>
            </a:pPr>
            <a:r>
              <a:rPr lang="en-US" b="true" sz="3600" u="none">
                <a:solidFill>
                  <a:srgbClr val="FFFFFF"/>
                </a:solidFill>
                <a:latin typeface="Raleway Bold"/>
                <a:ea typeface="Raleway Bold"/>
                <a:cs typeface="Raleway Bold"/>
                <a:sym typeface="Raleway Bold"/>
              </a:rPr>
              <a:t>3</a:t>
            </a:r>
          </a:p>
        </p:txBody>
      </p:sp>
      <p:sp>
        <p:nvSpPr>
          <p:cNvPr name="TextBox 23" id="23"/>
          <p:cNvSpPr txBox="true"/>
          <p:nvPr/>
        </p:nvSpPr>
        <p:spPr>
          <a:xfrm rot="0">
            <a:off x="6540957" y="5945098"/>
            <a:ext cx="7322748" cy="963930"/>
          </a:xfrm>
          <a:prstGeom prst="rect">
            <a:avLst/>
          </a:prstGeom>
        </p:spPr>
        <p:txBody>
          <a:bodyPr anchor="t" rtlCol="false" tIns="0" lIns="0" bIns="0" rIns="0">
            <a:spAutoFit/>
          </a:bodyPr>
          <a:lstStyle/>
          <a:p>
            <a:pPr algn="l" marL="0" indent="0" lvl="1">
              <a:lnSpc>
                <a:spcPts val="8400"/>
              </a:lnSpc>
              <a:spcBef>
                <a:spcPct val="0"/>
              </a:spcBef>
            </a:pPr>
            <a:r>
              <a:rPr lang="en-US" sz="4200">
                <a:solidFill>
                  <a:srgbClr val="FFFFFF"/>
                </a:solidFill>
                <a:latin typeface="Montaser Arabic"/>
                <a:ea typeface="Montaser Arabic"/>
                <a:cs typeface="Montaser Arabic"/>
                <a:sym typeface="Montaser Arabic"/>
              </a:rPr>
              <a:t>Modelado</a:t>
            </a:r>
          </a:p>
        </p:txBody>
      </p:sp>
      <p:sp>
        <p:nvSpPr>
          <p:cNvPr name="TextBox 24" id="24"/>
          <p:cNvSpPr txBox="true"/>
          <p:nvPr/>
        </p:nvSpPr>
        <p:spPr>
          <a:xfrm rot="0">
            <a:off x="5238533" y="6173508"/>
            <a:ext cx="545211" cy="688086"/>
          </a:xfrm>
          <a:prstGeom prst="rect">
            <a:avLst/>
          </a:prstGeom>
        </p:spPr>
        <p:txBody>
          <a:bodyPr anchor="t" rtlCol="false" tIns="0" lIns="0" bIns="0" rIns="0">
            <a:spAutoFit/>
          </a:bodyPr>
          <a:lstStyle/>
          <a:p>
            <a:pPr algn="ctr" marL="0" indent="0" lvl="1">
              <a:lnSpc>
                <a:spcPts val="5652"/>
              </a:lnSpc>
              <a:spcBef>
                <a:spcPct val="0"/>
              </a:spcBef>
            </a:pPr>
            <a:r>
              <a:rPr lang="en-US" b="true" sz="3600" u="none">
                <a:solidFill>
                  <a:srgbClr val="FFFFFF"/>
                </a:solidFill>
                <a:latin typeface="Raleway Bold"/>
                <a:ea typeface="Raleway Bold"/>
                <a:cs typeface="Raleway Bold"/>
                <a:sym typeface="Raleway Bold"/>
              </a:rPr>
              <a:t>5</a:t>
            </a:r>
          </a:p>
        </p:txBody>
      </p:sp>
      <p:sp>
        <p:nvSpPr>
          <p:cNvPr name="TextBox 25" id="25"/>
          <p:cNvSpPr txBox="true"/>
          <p:nvPr/>
        </p:nvSpPr>
        <p:spPr>
          <a:xfrm rot="0">
            <a:off x="432352" y="414337"/>
            <a:ext cx="4257587" cy="1219200"/>
          </a:xfrm>
          <a:prstGeom prst="rect">
            <a:avLst/>
          </a:prstGeom>
        </p:spPr>
        <p:txBody>
          <a:bodyPr anchor="t" rtlCol="false" tIns="0" lIns="0" bIns="0" rIns="0">
            <a:spAutoFit/>
          </a:bodyPr>
          <a:lstStyle/>
          <a:p>
            <a:pPr algn="l" marL="0" indent="0" lvl="0">
              <a:lnSpc>
                <a:spcPts val="9540"/>
              </a:lnSpc>
              <a:spcBef>
                <a:spcPct val="0"/>
              </a:spcBef>
            </a:pPr>
            <a:r>
              <a:rPr lang="en-US" b="true" sz="7950">
                <a:solidFill>
                  <a:srgbClr val="FFFFFF"/>
                </a:solidFill>
                <a:latin typeface="Raleway Bold"/>
                <a:ea typeface="Raleway Bold"/>
                <a:cs typeface="Raleway Bold"/>
                <a:sym typeface="Raleway Bold"/>
              </a:rPr>
              <a:t>Índice</a:t>
            </a:r>
          </a:p>
        </p:txBody>
      </p:sp>
      <p:grpSp>
        <p:nvGrpSpPr>
          <p:cNvPr name="Group 26" id="26"/>
          <p:cNvGrpSpPr/>
          <p:nvPr/>
        </p:nvGrpSpPr>
        <p:grpSpPr>
          <a:xfrm rot="0">
            <a:off x="5125139" y="7434704"/>
            <a:ext cx="771999" cy="771999"/>
            <a:chOff x="0" y="0"/>
            <a:chExt cx="6350000" cy="6350000"/>
          </a:xfrm>
        </p:grpSpPr>
        <p:sp>
          <p:nvSpPr>
            <p:cNvPr name="Freeform 27" id="27"/>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17CC2"/>
            </a:solidFill>
          </p:spPr>
        </p:sp>
      </p:grpSp>
      <p:sp>
        <p:nvSpPr>
          <p:cNvPr name="TextBox 28" id="28"/>
          <p:cNvSpPr txBox="true"/>
          <p:nvPr/>
        </p:nvSpPr>
        <p:spPr>
          <a:xfrm rot="0">
            <a:off x="6540957" y="7176814"/>
            <a:ext cx="7322748" cy="963930"/>
          </a:xfrm>
          <a:prstGeom prst="rect">
            <a:avLst/>
          </a:prstGeom>
        </p:spPr>
        <p:txBody>
          <a:bodyPr anchor="t" rtlCol="false" tIns="0" lIns="0" bIns="0" rIns="0">
            <a:spAutoFit/>
          </a:bodyPr>
          <a:lstStyle/>
          <a:p>
            <a:pPr algn="l" marL="0" indent="0" lvl="1">
              <a:lnSpc>
                <a:spcPts val="8400"/>
              </a:lnSpc>
              <a:spcBef>
                <a:spcPct val="0"/>
              </a:spcBef>
            </a:pPr>
            <a:r>
              <a:rPr lang="en-US" sz="4200">
                <a:solidFill>
                  <a:srgbClr val="FFFFFF"/>
                </a:solidFill>
                <a:latin typeface="Montaser Arabic"/>
                <a:ea typeface="Montaser Arabic"/>
                <a:cs typeface="Montaser Arabic"/>
                <a:sym typeface="Montaser Arabic"/>
              </a:rPr>
              <a:t>Modelado</a:t>
            </a:r>
          </a:p>
        </p:txBody>
      </p:sp>
      <p:sp>
        <p:nvSpPr>
          <p:cNvPr name="TextBox 29" id="29"/>
          <p:cNvSpPr txBox="true"/>
          <p:nvPr/>
        </p:nvSpPr>
        <p:spPr>
          <a:xfrm rot="0">
            <a:off x="5238533" y="7405223"/>
            <a:ext cx="545211" cy="688086"/>
          </a:xfrm>
          <a:prstGeom prst="rect">
            <a:avLst/>
          </a:prstGeom>
        </p:spPr>
        <p:txBody>
          <a:bodyPr anchor="t" rtlCol="false" tIns="0" lIns="0" bIns="0" rIns="0">
            <a:spAutoFit/>
          </a:bodyPr>
          <a:lstStyle/>
          <a:p>
            <a:pPr algn="ctr" marL="0" indent="0" lvl="1">
              <a:lnSpc>
                <a:spcPts val="5652"/>
              </a:lnSpc>
              <a:spcBef>
                <a:spcPct val="0"/>
              </a:spcBef>
            </a:pPr>
            <a:r>
              <a:rPr lang="en-US" b="true" sz="3600">
                <a:solidFill>
                  <a:srgbClr val="FFFFFF"/>
                </a:solidFill>
                <a:latin typeface="Raleway Bold"/>
                <a:ea typeface="Raleway Bold"/>
                <a:cs typeface="Raleway Bold"/>
                <a:sym typeface="Raleway Bold"/>
              </a:rPr>
              <a:t>6</a:t>
            </a:r>
          </a:p>
        </p:txBody>
      </p:sp>
      <p:grpSp>
        <p:nvGrpSpPr>
          <p:cNvPr name="Group 30" id="30"/>
          <p:cNvGrpSpPr/>
          <p:nvPr/>
        </p:nvGrpSpPr>
        <p:grpSpPr>
          <a:xfrm rot="0">
            <a:off x="5125139" y="8486301"/>
            <a:ext cx="771999" cy="771999"/>
            <a:chOff x="0" y="0"/>
            <a:chExt cx="6350000" cy="6350000"/>
          </a:xfrm>
        </p:grpSpPr>
        <p:sp>
          <p:nvSpPr>
            <p:cNvPr name="Freeform 31" id="31"/>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17CC2"/>
            </a:solidFill>
          </p:spPr>
        </p:sp>
      </p:grpSp>
      <p:sp>
        <p:nvSpPr>
          <p:cNvPr name="TextBox 32" id="32"/>
          <p:cNvSpPr txBox="true"/>
          <p:nvPr/>
        </p:nvSpPr>
        <p:spPr>
          <a:xfrm rot="0">
            <a:off x="6540957" y="8228411"/>
            <a:ext cx="7322748" cy="963930"/>
          </a:xfrm>
          <a:prstGeom prst="rect">
            <a:avLst/>
          </a:prstGeom>
        </p:spPr>
        <p:txBody>
          <a:bodyPr anchor="t" rtlCol="false" tIns="0" lIns="0" bIns="0" rIns="0">
            <a:spAutoFit/>
          </a:bodyPr>
          <a:lstStyle/>
          <a:p>
            <a:pPr algn="l" marL="0" indent="0" lvl="1">
              <a:lnSpc>
                <a:spcPts val="8400"/>
              </a:lnSpc>
              <a:spcBef>
                <a:spcPct val="0"/>
              </a:spcBef>
            </a:pPr>
            <a:r>
              <a:rPr lang="en-US" sz="4200">
                <a:solidFill>
                  <a:srgbClr val="FFFFFF"/>
                </a:solidFill>
                <a:latin typeface="Montaser Arabic"/>
                <a:ea typeface="Montaser Arabic"/>
                <a:cs typeface="Montaser Arabic"/>
                <a:sym typeface="Montaser Arabic"/>
              </a:rPr>
              <a:t>Despliegue</a:t>
            </a:r>
          </a:p>
        </p:txBody>
      </p:sp>
      <p:sp>
        <p:nvSpPr>
          <p:cNvPr name="TextBox 33" id="33"/>
          <p:cNvSpPr txBox="true"/>
          <p:nvPr/>
        </p:nvSpPr>
        <p:spPr>
          <a:xfrm rot="0">
            <a:off x="5238533" y="8456820"/>
            <a:ext cx="545211" cy="688086"/>
          </a:xfrm>
          <a:prstGeom prst="rect">
            <a:avLst/>
          </a:prstGeom>
        </p:spPr>
        <p:txBody>
          <a:bodyPr anchor="t" rtlCol="false" tIns="0" lIns="0" bIns="0" rIns="0">
            <a:spAutoFit/>
          </a:bodyPr>
          <a:lstStyle/>
          <a:p>
            <a:pPr algn="ctr" marL="0" indent="0" lvl="1">
              <a:lnSpc>
                <a:spcPts val="5652"/>
              </a:lnSpc>
              <a:spcBef>
                <a:spcPct val="0"/>
              </a:spcBef>
            </a:pPr>
            <a:r>
              <a:rPr lang="en-US" b="true" sz="3600">
                <a:solidFill>
                  <a:srgbClr val="FFFFFF"/>
                </a:solidFill>
                <a:latin typeface="Raleway Bold"/>
                <a:ea typeface="Raleway Bold"/>
                <a:cs typeface="Raleway Bold"/>
                <a:sym typeface="Raleway Bold"/>
              </a:rPr>
              <a:t>7</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7416B"/>
        </a:solidFill>
      </p:bgPr>
    </p:bg>
    <p:spTree>
      <p:nvGrpSpPr>
        <p:cNvPr id="1" name=""/>
        <p:cNvGrpSpPr/>
        <p:nvPr/>
      </p:nvGrpSpPr>
      <p:grpSpPr>
        <a:xfrm>
          <a:off x="0" y="0"/>
          <a:ext cx="0" cy="0"/>
          <a:chOff x="0" y="0"/>
          <a:chExt cx="0" cy="0"/>
        </a:xfrm>
      </p:grpSpPr>
      <p:grpSp>
        <p:nvGrpSpPr>
          <p:cNvPr name="Group 2" id="2"/>
          <p:cNvGrpSpPr/>
          <p:nvPr/>
        </p:nvGrpSpPr>
        <p:grpSpPr>
          <a:xfrm rot="0">
            <a:off x="9144000" y="0"/>
            <a:ext cx="9144000" cy="10287000"/>
            <a:chOff x="0" y="0"/>
            <a:chExt cx="12192000" cy="13716000"/>
          </a:xfrm>
        </p:grpSpPr>
        <p:pic>
          <p:nvPicPr>
            <p:cNvPr name="Picture 3" id="3"/>
            <p:cNvPicPr>
              <a:picLocks noChangeAspect="true"/>
            </p:cNvPicPr>
            <p:nvPr/>
          </p:nvPicPr>
          <p:blipFill>
            <a:blip r:embed="rId2"/>
            <a:srcRect l="20355" t="0" r="20355" b="0"/>
            <a:stretch>
              <a:fillRect/>
            </a:stretch>
          </p:blipFill>
          <p:spPr>
            <a:xfrm flipH="false" flipV="false">
              <a:off x="0" y="0"/>
              <a:ext cx="12192000" cy="13716000"/>
            </a:xfrm>
            <a:prstGeom prst="rect">
              <a:avLst/>
            </a:prstGeom>
          </p:spPr>
        </p:pic>
      </p:grpSp>
      <p:sp>
        <p:nvSpPr>
          <p:cNvPr name="Freeform 4" id="4"/>
          <p:cNvSpPr/>
          <p:nvPr/>
        </p:nvSpPr>
        <p:spPr>
          <a:xfrm flipH="false" flipV="false" rot="-10800000">
            <a:off x="-372054" y="523145"/>
            <a:ext cx="4527362" cy="1011111"/>
          </a:xfrm>
          <a:custGeom>
            <a:avLst/>
            <a:gdLst/>
            <a:ahLst/>
            <a:cxnLst/>
            <a:rect r="r" b="b" t="t" l="l"/>
            <a:pathLst>
              <a:path h="1011111" w="4527362">
                <a:moveTo>
                  <a:pt x="0" y="0"/>
                </a:moveTo>
                <a:lnTo>
                  <a:pt x="4527362" y="0"/>
                </a:lnTo>
                <a:lnTo>
                  <a:pt x="4527362" y="1011110"/>
                </a:lnTo>
                <a:lnTo>
                  <a:pt x="0" y="101111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1842264" y="4708220"/>
            <a:ext cx="6445736" cy="5870991"/>
          </a:xfrm>
          <a:custGeom>
            <a:avLst/>
            <a:gdLst/>
            <a:ahLst/>
            <a:cxnLst/>
            <a:rect r="r" b="b" t="t" l="l"/>
            <a:pathLst>
              <a:path h="5870991" w="6445736">
                <a:moveTo>
                  <a:pt x="0" y="0"/>
                </a:moveTo>
                <a:lnTo>
                  <a:pt x="6445736" y="0"/>
                </a:lnTo>
                <a:lnTo>
                  <a:pt x="6445736" y="5870991"/>
                </a:lnTo>
                <a:lnTo>
                  <a:pt x="0" y="587099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668171" y="3844741"/>
            <a:ext cx="8007720" cy="4434554"/>
          </a:xfrm>
          <a:prstGeom prst="rect">
            <a:avLst/>
          </a:prstGeom>
        </p:spPr>
        <p:txBody>
          <a:bodyPr anchor="t" rtlCol="false" tIns="0" lIns="0" bIns="0" rIns="0">
            <a:spAutoFit/>
          </a:bodyPr>
          <a:lstStyle/>
          <a:p>
            <a:pPr algn="l">
              <a:lnSpc>
                <a:spcPts val="3911"/>
              </a:lnSpc>
            </a:pPr>
            <a:r>
              <a:rPr lang="en-US" sz="2607">
                <a:solidFill>
                  <a:srgbClr val="FFFFFF"/>
                </a:solidFill>
                <a:latin typeface="Montaser Arabic"/>
                <a:ea typeface="Montaser Arabic"/>
                <a:cs typeface="Montaser Arabic"/>
                <a:sym typeface="Montaser Arabic"/>
              </a:rPr>
              <a:t>Se desarrolló un chatbot basado en Procesamiento de Lenguaje Natural (NLP). El sistema está diseñado para resolver dudas administrativas de la comunidad (horarios, convocatorias, calendarios y trámites) a través de WhatsApp, utilizando información extraída directamente de los documentos oficiales del colegio.</a:t>
            </a:r>
          </a:p>
          <a:p>
            <a:pPr algn="l" marL="0" indent="0" lvl="0">
              <a:lnSpc>
                <a:spcPts val="3911"/>
              </a:lnSpc>
              <a:spcBef>
                <a:spcPct val="0"/>
              </a:spcBef>
            </a:pPr>
          </a:p>
        </p:txBody>
      </p:sp>
      <p:sp>
        <p:nvSpPr>
          <p:cNvPr name="TextBox 7" id="7"/>
          <p:cNvSpPr txBox="true"/>
          <p:nvPr/>
        </p:nvSpPr>
        <p:spPr>
          <a:xfrm rot="0">
            <a:off x="668171" y="2212117"/>
            <a:ext cx="8007720" cy="1228725"/>
          </a:xfrm>
          <a:prstGeom prst="rect">
            <a:avLst/>
          </a:prstGeom>
        </p:spPr>
        <p:txBody>
          <a:bodyPr anchor="t" rtlCol="false" tIns="0" lIns="0" bIns="0" rIns="0">
            <a:spAutoFit/>
          </a:bodyPr>
          <a:lstStyle/>
          <a:p>
            <a:pPr algn="l" marL="0" indent="0" lvl="0">
              <a:lnSpc>
                <a:spcPts val="9600"/>
              </a:lnSpc>
              <a:spcBef>
                <a:spcPct val="0"/>
              </a:spcBef>
            </a:pPr>
            <a:r>
              <a:rPr lang="en-US" b="true" sz="8000">
                <a:solidFill>
                  <a:srgbClr val="FFFFFF"/>
                </a:solidFill>
                <a:latin typeface="Raleway Bold"/>
                <a:ea typeface="Raleway Bold"/>
                <a:cs typeface="Raleway Bold"/>
                <a:sym typeface="Raleway Bold"/>
              </a:rPr>
              <a:t>Introducción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7416B"/>
        </a:solidFill>
      </p:bgPr>
    </p:bg>
    <p:spTree>
      <p:nvGrpSpPr>
        <p:cNvPr id="1" name=""/>
        <p:cNvGrpSpPr/>
        <p:nvPr/>
      </p:nvGrpSpPr>
      <p:grpSpPr>
        <a:xfrm>
          <a:off x="0" y="0"/>
          <a:ext cx="0" cy="0"/>
          <a:chOff x="0" y="0"/>
          <a:chExt cx="0" cy="0"/>
        </a:xfrm>
      </p:grpSpPr>
      <p:sp>
        <p:nvSpPr>
          <p:cNvPr name="Freeform 2" id="2"/>
          <p:cNvSpPr/>
          <p:nvPr/>
        </p:nvSpPr>
        <p:spPr>
          <a:xfrm flipH="false" flipV="false" rot="0">
            <a:off x="12947146" y="3552472"/>
            <a:ext cx="5571779" cy="6878740"/>
          </a:xfrm>
          <a:custGeom>
            <a:avLst/>
            <a:gdLst/>
            <a:ahLst/>
            <a:cxnLst/>
            <a:rect r="r" b="b" t="t" l="l"/>
            <a:pathLst>
              <a:path h="6878740" w="5571779">
                <a:moveTo>
                  <a:pt x="0" y="0"/>
                </a:moveTo>
                <a:lnTo>
                  <a:pt x="5571779" y="0"/>
                </a:lnTo>
                <a:lnTo>
                  <a:pt x="5571779" y="6878739"/>
                </a:lnTo>
                <a:lnTo>
                  <a:pt x="0" y="687873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3493798" y="2488891"/>
            <a:ext cx="3290345" cy="5908879"/>
            <a:chOff x="0" y="0"/>
            <a:chExt cx="4387127" cy="7878506"/>
          </a:xfrm>
        </p:grpSpPr>
        <p:pic>
          <p:nvPicPr>
            <p:cNvPr name="Picture 4" id="4"/>
            <p:cNvPicPr>
              <a:picLocks noChangeAspect="true"/>
            </p:cNvPicPr>
            <p:nvPr/>
          </p:nvPicPr>
          <p:blipFill>
            <a:blip r:embed="rId4"/>
            <a:srcRect l="31415" t="0" r="31415" b="0"/>
            <a:stretch>
              <a:fillRect/>
            </a:stretch>
          </p:blipFill>
          <p:spPr>
            <a:xfrm flipH="false" flipV="false">
              <a:off x="0" y="0"/>
              <a:ext cx="4387127" cy="7878506"/>
            </a:xfrm>
            <a:prstGeom prst="rect">
              <a:avLst/>
            </a:prstGeom>
          </p:spPr>
        </p:pic>
      </p:grpSp>
      <p:sp>
        <p:nvSpPr>
          <p:cNvPr name="Freeform 5" id="5"/>
          <p:cNvSpPr/>
          <p:nvPr/>
        </p:nvSpPr>
        <p:spPr>
          <a:xfrm flipH="false" flipV="false" rot="-10800000">
            <a:off x="0" y="0"/>
            <a:ext cx="4363296" cy="5966900"/>
          </a:xfrm>
          <a:custGeom>
            <a:avLst/>
            <a:gdLst/>
            <a:ahLst/>
            <a:cxnLst/>
            <a:rect r="r" b="b" t="t" l="l"/>
            <a:pathLst>
              <a:path h="5966900" w="4363296">
                <a:moveTo>
                  <a:pt x="0" y="0"/>
                </a:moveTo>
                <a:lnTo>
                  <a:pt x="4363296" y="0"/>
                </a:lnTo>
                <a:lnTo>
                  <a:pt x="4363296" y="5966900"/>
                </a:lnTo>
                <a:lnTo>
                  <a:pt x="0" y="59669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2961421" y="1260166"/>
            <a:ext cx="9985725" cy="2447925"/>
          </a:xfrm>
          <a:prstGeom prst="rect">
            <a:avLst/>
          </a:prstGeom>
        </p:spPr>
        <p:txBody>
          <a:bodyPr anchor="t" rtlCol="false" tIns="0" lIns="0" bIns="0" rIns="0">
            <a:spAutoFit/>
          </a:bodyPr>
          <a:lstStyle/>
          <a:p>
            <a:pPr algn="l" marL="0" indent="0" lvl="0">
              <a:lnSpc>
                <a:spcPts val="9600"/>
              </a:lnSpc>
              <a:spcBef>
                <a:spcPct val="0"/>
              </a:spcBef>
            </a:pPr>
            <a:r>
              <a:rPr lang="en-US" b="true" sz="8000">
                <a:solidFill>
                  <a:srgbClr val="FFFFFF"/>
                </a:solidFill>
                <a:latin typeface="Raleway Bold"/>
                <a:ea typeface="Raleway Bold"/>
                <a:cs typeface="Raleway Bold"/>
                <a:sym typeface="Raleway Bold"/>
              </a:rPr>
              <a:t>Comprensión del Negocio </a:t>
            </a:r>
          </a:p>
        </p:txBody>
      </p:sp>
      <p:sp>
        <p:nvSpPr>
          <p:cNvPr name="TextBox 7" id="7"/>
          <p:cNvSpPr txBox="true"/>
          <p:nvPr/>
        </p:nvSpPr>
        <p:spPr>
          <a:xfrm rot="0">
            <a:off x="1028700" y="4359132"/>
            <a:ext cx="11429320" cy="5198745"/>
          </a:xfrm>
          <a:prstGeom prst="rect">
            <a:avLst/>
          </a:prstGeom>
        </p:spPr>
        <p:txBody>
          <a:bodyPr anchor="t" rtlCol="false" tIns="0" lIns="0" bIns="0" rIns="0">
            <a:spAutoFit/>
          </a:bodyPr>
          <a:lstStyle/>
          <a:p>
            <a:pPr algn="l" marL="604519" indent="-302260" lvl="1">
              <a:lnSpc>
                <a:spcPts val="4199"/>
              </a:lnSpc>
              <a:spcBef>
                <a:spcPct val="0"/>
              </a:spcBef>
              <a:buFont typeface="Arial"/>
              <a:buChar char="•"/>
            </a:pPr>
            <a:r>
              <a:rPr lang="en-US" sz="2799">
                <a:solidFill>
                  <a:srgbClr val="FFFFFF"/>
                </a:solidFill>
                <a:latin typeface="Montaser Arabic"/>
                <a:ea typeface="Montaser Arabic"/>
                <a:cs typeface="Montaser Arabic"/>
                <a:sym typeface="Montaser Arabic"/>
              </a:rPr>
              <a:t>Objetivo: Res</a:t>
            </a:r>
            <a:r>
              <a:rPr lang="en-US" sz="2799" u="none">
                <a:solidFill>
                  <a:srgbClr val="FFFFFF"/>
                </a:solidFill>
                <a:latin typeface="Montaser Arabic"/>
                <a:ea typeface="Montaser Arabic"/>
                <a:cs typeface="Montaser Arabic"/>
                <a:sym typeface="Montaser Arabic"/>
              </a:rPr>
              <a:t>olver una necesidad real dentro de la Secretaría Académica del CCH Naucalpan.</a:t>
            </a:r>
          </a:p>
          <a:p>
            <a:pPr algn="l">
              <a:lnSpc>
                <a:spcPts val="4199"/>
              </a:lnSpc>
              <a:spcBef>
                <a:spcPct val="0"/>
              </a:spcBef>
            </a:pPr>
          </a:p>
          <a:p>
            <a:pPr algn="l" marL="604519" indent="-302260" lvl="1">
              <a:lnSpc>
                <a:spcPts val="4199"/>
              </a:lnSpc>
              <a:spcBef>
                <a:spcPct val="0"/>
              </a:spcBef>
              <a:buFont typeface="Arial"/>
              <a:buChar char="•"/>
            </a:pPr>
            <a:r>
              <a:rPr lang="en-US" sz="2799" u="none">
                <a:solidFill>
                  <a:srgbClr val="FFFFFF"/>
                </a:solidFill>
                <a:latin typeface="Montaser Arabic"/>
                <a:ea typeface="Montaser Arabic"/>
                <a:cs typeface="Montaser Arabic"/>
                <a:sym typeface="Montaser Arabic"/>
              </a:rPr>
              <a:t>El profesorado requiere consultar fechas, normativas de horarios, procesos de mejora y convocatorias de manera rápida y directa. El objetivo es automatizar la atención a estas dudas frecuentes mediante un canal accesible (WhatsApp) para reducir la saturación administrativa y evitar errores de desinformación en los plazos oficiales.</a:t>
            </a:r>
          </a:p>
          <a:p>
            <a:pPr algn="l" marL="0" indent="0" lvl="0">
              <a:lnSpc>
                <a:spcPts val="4199"/>
              </a:lnSpc>
              <a:spcBef>
                <a:spcPct val="0"/>
              </a:spcBef>
            </a:pPr>
          </a:p>
        </p:txBody>
      </p:sp>
      <p:sp>
        <p:nvSpPr>
          <p:cNvPr name="Freeform 8" id="8"/>
          <p:cNvSpPr/>
          <p:nvPr/>
        </p:nvSpPr>
        <p:spPr>
          <a:xfrm flipH="false" flipV="false" rot="-10800000">
            <a:off x="13991563" y="523145"/>
            <a:ext cx="4527362" cy="1011111"/>
          </a:xfrm>
          <a:custGeom>
            <a:avLst/>
            <a:gdLst/>
            <a:ahLst/>
            <a:cxnLst/>
            <a:rect r="r" b="b" t="t" l="l"/>
            <a:pathLst>
              <a:path h="1011111" w="4527362">
                <a:moveTo>
                  <a:pt x="0" y="0"/>
                </a:moveTo>
                <a:lnTo>
                  <a:pt x="4527362" y="0"/>
                </a:lnTo>
                <a:lnTo>
                  <a:pt x="4527362" y="1011110"/>
                </a:lnTo>
                <a:lnTo>
                  <a:pt x="0" y="101111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7416B"/>
        </a:solidFill>
      </p:bgPr>
    </p:bg>
    <p:spTree>
      <p:nvGrpSpPr>
        <p:cNvPr id="1" name=""/>
        <p:cNvGrpSpPr/>
        <p:nvPr/>
      </p:nvGrpSpPr>
      <p:grpSpPr>
        <a:xfrm>
          <a:off x="0" y="0"/>
          <a:ext cx="0" cy="0"/>
          <a:chOff x="0" y="0"/>
          <a:chExt cx="0" cy="0"/>
        </a:xfrm>
      </p:grpSpPr>
      <p:grpSp>
        <p:nvGrpSpPr>
          <p:cNvPr name="Group 2" id="2"/>
          <p:cNvGrpSpPr/>
          <p:nvPr/>
        </p:nvGrpSpPr>
        <p:grpSpPr>
          <a:xfrm rot="0">
            <a:off x="11077462" y="3573464"/>
            <a:ext cx="6447104" cy="6035040"/>
            <a:chOff x="0" y="0"/>
            <a:chExt cx="8596139" cy="8046720"/>
          </a:xfrm>
        </p:grpSpPr>
        <p:pic>
          <p:nvPicPr>
            <p:cNvPr name="Picture 3" id="3"/>
            <p:cNvPicPr>
              <a:picLocks noChangeAspect="true"/>
            </p:cNvPicPr>
            <p:nvPr/>
          </p:nvPicPr>
          <p:blipFill>
            <a:blip r:embed="rId2"/>
            <a:srcRect l="18081" t="0" r="18081" b="0"/>
            <a:stretch>
              <a:fillRect/>
            </a:stretch>
          </p:blipFill>
          <p:spPr>
            <a:xfrm flipH="false" flipV="false">
              <a:off x="0" y="0"/>
              <a:ext cx="8596139" cy="8046720"/>
            </a:xfrm>
            <a:prstGeom prst="rect">
              <a:avLst/>
            </a:prstGeom>
          </p:spPr>
        </p:pic>
      </p:grpSp>
      <p:sp>
        <p:nvSpPr>
          <p:cNvPr name="Freeform 4" id="4"/>
          <p:cNvSpPr/>
          <p:nvPr/>
        </p:nvSpPr>
        <p:spPr>
          <a:xfrm flipH="false" flipV="false" rot="5400000">
            <a:off x="-1427263" y="1392555"/>
            <a:ext cx="4527362" cy="1011111"/>
          </a:xfrm>
          <a:custGeom>
            <a:avLst/>
            <a:gdLst/>
            <a:ahLst/>
            <a:cxnLst/>
            <a:rect r="r" b="b" t="t" l="l"/>
            <a:pathLst>
              <a:path h="1011111" w="4527362">
                <a:moveTo>
                  <a:pt x="0" y="0"/>
                </a:moveTo>
                <a:lnTo>
                  <a:pt x="4527362" y="0"/>
                </a:lnTo>
                <a:lnTo>
                  <a:pt x="4527362" y="1011111"/>
                </a:lnTo>
                <a:lnTo>
                  <a:pt x="0" y="101111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5400000">
            <a:off x="14538541" y="-1468692"/>
            <a:ext cx="2280767" cy="5218151"/>
          </a:xfrm>
          <a:custGeom>
            <a:avLst/>
            <a:gdLst/>
            <a:ahLst/>
            <a:cxnLst/>
            <a:rect r="r" b="b" t="t" l="l"/>
            <a:pathLst>
              <a:path h="5218151" w="2280767">
                <a:moveTo>
                  <a:pt x="0" y="0"/>
                </a:moveTo>
                <a:lnTo>
                  <a:pt x="2280767" y="0"/>
                </a:lnTo>
                <a:lnTo>
                  <a:pt x="2280767" y="5218151"/>
                </a:lnTo>
                <a:lnTo>
                  <a:pt x="0" y="52181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true" rot="0">
            <a:off x="-196152" y="7494835"/>
            <a:ext cx="3564095" cy="2984930"/>
          </a:xfrm>
          <a:custGeom>
            <a:avLst/>
            <a:gdLst/>
            <a:ahLst/>
            <a:cxnLst/>
            <a:rect r="r" b="b" t="t" l="l"/>
            <a:pathLst>
              <a:path h="2984930" w="3564095">
                <a:moveTo>
                  <a:pt x="0" y="2984929"/>
                </a:moveTo>
                <a:lnTo>
                  <a:pt x="3564095" y="2984929"/>
                </a:lnTo>
                <a:lnTo>
                  <a:pt x="3564095" y="0"/>
                </a:lnTo>
                <a:lnTo>
                  <a:pt x="0" y="0"/>
                </a:lnTo>
                <a:lnTo>
                  <a:pt x="0" y="2984929"/>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7" id="7"/>
          <p:cNvSpPr txBox="true"/>
          <p:nvPr/>
        </p:nvSpPr>
        <p:spPr>
          <a:xfrm rot="0">
            <a:off x="3024586" y="4633775"/>
            <a:ext cx="7325102" cy="2861060"/>
          </a:xfrm>
          <a:prstGeom prst="rect">
            <a:avLst/>
          </a:prstGeom>
        </p:spPr>
        <p:txBody>
          <a:bodyPr anchor="t" rtlCol="false" tIns="0" lIns="0" bIns="0" rIns="0">
            <a:spAutoFit/>
          </a:bodyPr>
          <a:lstStyle/>
          <a:p>
            <a:pPr algn="l" marL="546032" indent="-273016" lvl="1">
              <a:lnSpc>
                <a:spcPts val="3793"/>
              </a:lnSpc>
              <a:buFont typeface="Arial"/>
              <a:buChar char="•"/>
            </a:pPr>
            <a:r>
              <a:rPr lang="en-US" sz="2529">
                <a:solidFill>
                  <a:srgbClr val="FFFFFF"/>
                </a:solidFill>
                <a:latin typeface="Montaser Arabic"/>
                <a:ea typeface="Montaser Arabic"/>
                <a:cs typeface="Montaser Arabic"/>
                <a:sym typeface="Montaser Arabic"/>
              </a:rPr>
              <a:t>R</a:t>
            </a:r>
            <a:r>
              <a:rPr lang="en-US" sz="2529" u="none">
                <a:solidFill>
                  <a:srgbClr val="FFFFFF"/>
                </a:solidFill>
                <a:latin typeface="Montaser Arabic"/>
                <a:ea typeface="Montaser Arabic"/>
                <a:cs typeface="Montaser Arabic"/>
                <a:sym typeface="Montaser Arabic"/>
              </a:rPr>
              <a:t>ecopilar y analizar las fuentes de información institucional disponibles.</a:t>
            </a:r>
          </a:p>
          <a:p>
            <a:pPr algn="l">
              <a:lnSpc>
                <a:spcPts val="3793"/>
              </a:lnSpc>
            </a:pPr>
          </a:p>
          <a:p>
            <a:pPr algn="l" marL="546032" indent="-273016" lvl="1">
              <a:lnSpc>
                <a:spcPts val="3793"/>
              </a:lnSpc>
              <a:buFont typeface="Arial"/>
              <a:buChar char="•"/>
            </a:pPr>
            <a:r>
              <a:rPr lang="en-US" sz="2529" u="none">
                <a:solidFill>
                  <a:srgbClr val="FFFFFF"/>
                </a:solidFill>
                <a:latin typeface="Montaser Arabic"/>
                <a:ea typeface="Montaser Arabic"/>
                <a:cs typeface="Montaser Arabic"/>
                <a:sym typeface="Montaser Arabic"/>
              </a:rPr>
              <a:t>Documentos normativos y convocatorias institucionales en formato PDF ubicados en la carpeta de trabajo.</a:t>
            </a:r>
          </a:p>
        </p:txBody>
      </p:sp>
      <p:sp>
        <p:nvSpPr>
          <p:cNvPr name="TextBox 8" id="8"/>
          <p:cNvSpPr txBox="true"/>
          <p:nvPr/>
        </p:nvSpPr>
        <p:spPr>
          <a:xfrm rot="0">
            <a:off x="2105217" y="1936210"/>
            <a:ext cx="14077566" cy="1228725"/>
          </a:xfrm>
          <a:prstGeom prst="rect">
            <a:avLst/>
          </a:prstGeom>
        </p:spPr>
        <p:txBody>
          <a:bodyPr anchor="t" rtlCol="false" tIns="0" lIns="0" bIns="0" rIns="0">
            <a:spAutoFit/>
          </a:bodyPr>
          <a:lstStyle/>
          <a:p>
            <a:pPr algn="ctr" marL="0" indent="0" lvl="0">
              <a:lnSpc>
                <a:spcPts val="9600"/>
              </a:lnSpc>
              <a:spcBef>
                <a:spcPct val="0"/>
              </a:spcBef>
            </a:pPr>
            <a:r>
              <a:rPr lang="en-US" b="true" sz="8000">
                <a:solidFill>
                  <a:srgbClr val="FFFFFF"/>
                </a:solidFill>
                <a:latin typeface="Raleway Bold"/>
                <a:ea typeface="Raleway Bold"/>
                <a:cs typeface="Raleway Bold"/>
                <a:sym typeface="Raleway Bold"/>
              </a:rPr>
              <a:t>Comprensión de los Datos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7416B"/>
        </a:solidFill>
      </p:bgPr>
    </p:bg>
    <p:spTree>
      <p:nvGrpSpPr>
        <p:cNvPr id="1" name=""/>
        <p:cNvGrpSpPr/>
        <p:nvPr/>
      </p:nvGrpSpPr>
      <p:grpSpPr>
        <a:xfrm>
          <a:off x="0" y="0"/>
          <a:ext cx="0" cy="0"/>
          <a:chOff x="0" y="0"/>
          <a:chExt cx="0" cy="0"/>
        </a:xfrm>
      </p:grpSpPr>
      <p:sp>
        <p:nvSpPr>
          <p:cNvPr name="Freeform 2" id="2"/>
          <p:cNvSpPr/>
          <p:nvPr/>
        </p:nvSpPr>
        <p:spPr>
          <a:xfrm flipH="false" flipV="false" rot="0">
            <a:off x="14752327" y="5381439"/>
            <a:ext cx="3727955" cy="5100964"/>
          </a:xfrm>
          <a:custGeom>
            <a:avLst/>
            <a:gdLst/>
            <a:ahLst/>
            <a:cxnLst/>
            <a:rect r="r" b="b" t="t" l="l"/>
            <a:pathLst>
              <a:path h="5100964" w="3727955">
                <a:moveTo>
                  <a:pt x="0" y="0"/>
                </a:moveTo>
                <a:lnTo>
                  <a:pt x="3727955" y="0"/>
                </a:lnTo>
                <a:lnTo>
                  <a:pt x="3727955" y="5100965"/>
                </a:lnTo>
                <a:lnTo>
                  <a:pt x="0" y="510096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33183" y="-194603"/>
            <a:ext cx="3564095" cy="2984930"/>
          </a:xfrm>
          <a:custGeom>
            <a:avLst/>
            <a:gdLst/>
            <a:ahLst/>
            <a:cxnLst/>
            <a:rect r="r" b="b" t="t" l="l"/>
            <a:pathLst>
              <a:path h="2984930" w="3564095">
                <a:moveTo>
                  <a:pt x="0" y="0"/>
                </a:moveTo>
                <a:lnTo>
                  <a:pt x="3564095" y="0"/>
                </a:lnTo>
                <a:lnTo>
                  <a:pt x="3564095" y="2984930"/>
                </a:lnTo>
                <a:lnTo>
                  <a:pt x="0" y="29849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3330912" y="509897"/>
            <a:ext cx="9965697" cy="2447925"/>
          </a:xfrm>
          <a:prstGeom prst="rect">
            <a:avLst/>
          </a:prstGeom>
        </p:spPr>
        <p:txBody>
          <a:bodyPr anchor="t" rtlCol="false" tIns="0" lIns="0" bIns="0" rIns="0">
            <a:spAutoFit/>
          </a:bodyPr>
          <a:lstStyle/>
          <a:p>
            <a:pPr algn="l" marL="0" indent="0" lvl="0">
              <a:lnSpc>
                <a:spcPts val="9600"/>
              </a:lnSpc>
              <a:spcBef>
                <a:spcPct val="0"/>
              </a:spcBef>
            </a:pPr>
            <a:r>
              <a:rPr lang="en-US" b="true" sz="8000">
                <a:solidFill>
                  <a:srgbClr val="FFFFFF"/>
                </a:solidFill>
                <a:latin typeface="Raleway Bold"/>
                <a:ea typeface="Raleway Bold"/>
                <a:cs typeface="Raleway Bold"/>
                <a:sym typeface="Raleway Bold"/>
              </a:rPr>
              <a:t>Preparación de los Datos</a:t>
            </a:r>
          </a:p>
        </p:txBody>
      </p:sp>
      <p:sp>
        <p:nvSpPr>
          <p:cNvPr name="TextBox 5" id="5"/>
          <p:cNvSpPr txBox="true"/>
          <p:nvPr/>
        </p:nvSpPr>
        <p:spPr>
          <a:xfrm rot="0">
            <a:off x="480408" y="3910434"/>
            <a:ext cx="13718368" cy="4576887"/>
          </a:xfrm>
          <a:prstGeom prst="rect">
            <a:avLst/>
          </a:prstGeom>
        </p:spPr>
        <p:txBody>
          <a:bodyPr anchor="t" rtlCol="false" tIns="0" lIns="0" bIns="0" rIns="0">
            <a:spAutoFit/>
          </a:bodyPr>
          <a:lstStyle/>
          <a:p>
            <a:pPr algn="l" marL="578407" indent="-289204" lvl="1">
              <a:lnSpc>
                <a:spcPts val="4018"/>
              </a:lnSpc>
              <a:spcBef>
                <a:spcPct val="0"/>
              </a:spcBef>
              <a:buFont typeface="Arial"/>
              <a:buChar char="•"/>
            </a:pPr>
            <a:r>
              <a:rPr lang="en-US" sz="2679">
                <a:solidFill>
                  <a:srgbClr val="FFFFFF"/>
                </a:solidFill>
                <a:latin typeface="Montaser Arabic"/>
                <a:ea typeface="Montaser Arabic"/>
                <a:cs typeface="Montaser Arabic"/>
                <a:sym typeface="Montaser Arabic"/>
              </a:rPr>
              <a:t>Ext</a:t>
            </a:r>
            <a:r>
              <a:rPr lang="en-US" sz="2679" u="none">
                <a:solidFill>
                  <a:srgbClr val="FFFFFF"/>
                </a:solidFill>
                <a:latin typeface="Montaser Arabic"/>
                <a:ea typeface="Montaser Arabic"/>
                <a:cs typeface="Montaser Arabic"/>
                <a:sym typeface="Montaser Arabic"/>
              </a:rPr>
              <a:t>racción automatizada del texto contenido en los PDFs utilizando scripts de Python con PyPDF2.</a:t>
            </a:r>
          </a:p>
          <a:p>
            <a:pPr algn="l">
              <a:lnSpc>
                <a:spcPts val="4018"/>
              </a:lnSpc>
              <a:spcBef>
                <a:spcPct val="0"/>
              </a:spcBef>
            </a:pPr>
          </a:p>
          <a:p>
            <a:pPr algn="l" marL="578407" indent="-289204" lvl="1">
              <a:lnSpc>
                <a:spcPts val="4018"/>
              </a:lnSpc>
              <a:spcBef>
                <a:spcPct val="0"/>
              </a:spcBef>
              <a:buFont typeface="Arial"/>
              <a:buChar char="•"/>
            </a:pPr>
            <a:r>
              <a:rPr lang="en-US" sz="2679" u="none">
                <a:solidFill>
                  <a:srgbClr val="FFFFFF"/>
                </a:solidFill>
                <a:latin typeface="Montaser Arabic"/>
                <a:ea typeface="Montaser Arabic"/>
                <a:cs typeface="Montaser Arabic"/>
                <a:sym typeface="Montaser Arabic"/>
              </a:rPr>
              <a:t>Segmentación del texto plano en fragmentos (chunks) mediante RecursiveCharacterTextSplitter para mantener una coherencia semántica.</a:t>
            </a:r>
          </a:p>
          <a:p>
            <a:pPr algn="l">
              <a:lnSpc>
                <a:spcPts val="4018"/>
              </a:lnSpc>
              <a:spcBef>
                <a:spcPct val="0"/>
              </a:spcBef>
            </a:pPr>
          </a:p>
          <a:p>
            <a:pPr algn="l" marL="578407" indent="-289204" lvl="1">
              <a:lnSpc>
                <a:spcPts val="4018"/>
              </a:lnSpc>
              <a:spcBef>
                <a:spcPct val="0"/>
              </a:spcBef>
              <a:buFont typeface="Arial"/>
              <a:buChar char="•"/>
            </a:pPr>
            <a:r>
              <a:rPr lang="en-US" sz="2679" u="none">
                <a:solidFill>
                  <a:srgbClr val="FFFFFF"/>
                </a:solidFill>
                <a:latin typeface="Montaser Arabic"/>
                <a:ea typeface="Montaser Arabic"/>
                <a:cs typeface="Montaser Arabic"/>
                <a:sym typeface="Montaser Arabic"/>
              </a:rPr>
              <a:t>Procesamiento  del archivo en formato CSV del calendario de SA, limpiando cabeceras.</a:t>
            </a:r>
          </a:p>
          <a:p>
            <a:pPr algn="l" marL="0" indent="0" lvl="0">
              <a:lnSpc>
                <a:spcPts val="4018"/>
              </a:lnSpc>
              <a:spcBef>
                <a:spcPct val="0"/>
              </a:spcBef>
            </a:pPr>
          </a:p>
        </p:txBody>
      </p:sp>
      <p:sp>
        <p:nvSpPr>
          <p:cNvPr name="Freeform 6" id="6"/>
          <p:cNvSpPr/>
          <p:nvPr/>
        </p:nvSpPr>
        <p:spPr>
          <a:xfrm flipH="false" flipV="false" rot="-10800000">
            <a:off x="13971970" y="475520"/>
            <a:ext cx="4527362" cy="1011111"/>
          </a:xfrm>
          <a:custGeom>
            <a:avLst/>
            <a:gdLst/>
            <a:ahLst/>
            <a:cxnLst/>
            <a:rect r="r" b="b" t="t" l="l"/>
            <a:pathLst>
              <a:path h="1011111" w="4527362">
                <a:moveTo>
                  <a:pt x="0" y="0"/>
                </a:moveTo>
                <a:lnTo>
                  <a:pt x="4527362" y="0"/>
                </a:lnTo>
                <a:lnTo>
                  <a:pt x="4527362" y="1011110"/>
                </a:lnTo>
                <a:lnTo>
                  <a:pt x="0" y="101111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7416B"/>
        </a:solidFill>
      </p:bgPr>
    </p:bg>
    <p:spTree>
      <p:nvGrpSpPr>
        <p:cNvPr id="1" name=""/>
        <p:cNvGrpSpPr/>
        <p:nvPr/>
      </p:nvGrpSpPr>
      <p:grpSpPr>
        <a:xfrm>
          <a:off x="0" y="0"/>
          <a:ext cx="0" cy="0"/>
          <a:chOff x="0" y="0"/>
          <a:chExt cx="0" cy="0"/>
        </a:xfrm>
      </p:grpSpPr>
      <p:sp>
        <p:nvSpPr>
          <p:cNvPr name="Freeform 2" id="2"/>
          <p:cNvSpPr/>
          <p:nvPr/>
        </p:nvSpPr>
        <p:spPr>
          <a:xfrm flipH="true" flipV="false" rot="0">
            <a:off x="14499711" y="-227459"/>
            <a:ext cx="3998286" cy="4444598"/>
          </a:xfrm>
          <a:custGeom>
            <a:avLst/>
            <a:gdLst/>
            <a:ahLst/>
            <a:cxnLst/>
            <a:rect r="r" b="b" t="t" l="l"/>
            <a:pathLst>
              <a:path h="4444598" w="3998286">
                <a:moveTo>
                  <a:pt x="3998286" y="0"/>
                </a:moveTo>
                <a:lnTo>
                  <a:pt x="0" y="0"/>
                </a:lnTo>
                <a:lnTo>
                  <a:pt x="0" y="4444597"/>
                </a:lnTo>
                <a:lnTo>
                  <a:pt x="3998286" y="4444597"/>
                </a:lnTo>
                <a:lnTo>
                  <a:pt x="3998286"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742551" y="0"/>
            <a:ext cx="10361543" cy="10287000"/>
            <a:chOff x="0" y="0"/>
            <a:chExt cx="13815391" cy="13716000"/>
          </a:xfrm>
        </p:grpSpPr>
        <p:pic>
          <p:nvPicPr>
            <p:cNvPr name="Picture 4" id="4"/>
            <p:cNvPicPr>
              <a:picLocks noChangeAspect="true"/>
            </p:cNvPicPr>
            <p:nvPr/>
          </p:nvPicPr>
          <p:blipFill>
            <a:blip r:embed="rId4"/>
            <a:srcRect l="0" t="359" r="0" b="359"/>
            <a:stretch>
              <a:fillRect/>
            </a:stretch>
          </p:blipFill>
          <p:spPr>
            <a:xfrm flipH="false" flipV="false">
              <a:off x="0" y="0"/>
              <a:ext cx="13815391" cy="13716000"/>
            </a:xfrm>
            <a:prstGeom prst="rect">
              <a:avLst/>
            </a:prstGeom>
          </p:spPr>
        </p:pic>
      </p:grpSp>
      <p:sp>
        <p:nvSpPr>
          <p:cNvPr name="Freeform 5" id="5"/>
          <p:cNvSpPr/>
          <p:nvPr/>
        </p:nvSpPr>
        <p:spPr>
          <a:xfrm flipH="false" flipV="false" rot="-10800000">
            <a:off x="8398920" y="9177937"/>
            <a:ext cx="4527362" cy="1011111"/>
          </a:xfrm>
          <a:custGeom>
            <a:avLst/>
            <a:gdLst/>
            <a:ahLst/>
            <a:cxnLst/>
            <a:rect r="r" b="b" t="t" l="l"/>
            <a:pathLst>
              <a:path h="1011111" w="4527362">
                <a:moveTo>
                  <a:pt x="0" y="0"/>
                </a:moveTo>
                <a:lnTo>
                  <a:pt x="4527362" y="0"/>
                </a:lnTo>
                <a:lnTo>
                  <a:pt x="4527362" y="1011111"/>
                </a:lnTo>
                <a:lnTo>
                  <a:pt x="0" y="101111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10662601" y="1671038"/>
            <a:ext cx="7166487" cy="1228725"/>
          </a:xfrm>
          <a:prstGeom prst="rect">
            <a:avLst/>
          </a:prstGeom>
        </p:spPr>
        <p:txBody>
          <a:bodyPr anchor="t" rtlCol="false" tIns="0" lIns="0" bIns="0" rIns="0">
            <a:spAutoFit/>
          </a:bodyPr>
          <a:lstStyle/>
          <a:p>
            <a:pPr algn="l" marL="0" indent="0" lvl="0">
              <a:lnSpc>
                <a:spcPts val="9600"/>
              </a:lnSpc>
              <a:spcBef>
                <a:spcPct val="0"/>
              </a:spcBef>
            </a:pPr>
            <a:r>
              <a:rPr lang="en-US" b="true" sz="8000">
                <a:solidFill>
                  <a:srgbClr val="FFFFFF"/>
                </a:solidFill>
                <a:latin typeface="Raleway Bold"/>
                <a:ea typeface="Raleway Bold"/>
                <a:cs typeface="Raleway Bold"/>
                <a:sym typeface="Raleway Bold"/>
              </a:rPr>
              <a:t>Modelado</a:t>
            </a:r>
          </a:p>
        </p:txBody>
      </p:sp>
      <p:sp>
        <p:nvSpPr>
          <p:cNvPr name="TextBox 7" id="7"/>
          <p:cNvSpPr txBox="true"/>
          <p:nvPr/>
        </p:nvSpPr>
        <p:spPr>
          <a:xfrm rot="0">
            <a:off x="10662601" y="4491472"/>
            <a:ext cx="6122811" cy="2030730"/>
          </a:xfrm>
          <a:prstGeom prst="rect">
            <a:avLst/>
          </a:prstGeom>
        </p:spPr>
        <p:txBody>
          <a:bodyPr anchor="t" rtlCol="false" tIns="0" lIns="0" bIns="0" rIns="0">
            <a:spAutoFit/>
          </a:bodyPr>
          <a:lstStyle/>
          <a:p>
            <a:pPr algn="l" marL="0" indent="0" lvl="0">
              <a:lnSpc>
                <a:spcPts val="4050"/>
              </a:lnSpc>
              <a:spcBef>
                <a:spcPct val="0"/>
              </a:spcBef>
            </a:pPr>
            <a:r>
              <a:rPr lang="en-US" sz="2700">
                <a:solidFill>
                  <a:srgbClr val="FFFFFF"/>
                </a:solidFill>
                <a:latin typeface="Montaser Arabic"/>
                <a:ea typeface="Montaser Arabic"/>
                <a:cs typeface="Montaser Arabic"/>
                <a:sym typeface="Montaser Arabic"/>
              </a:rPr>
              <a:t>Aplicar técnicas de procesamiento de lenguaje natural (NLP) y aprendizaje profundo para construir la arquitectura RAG.</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7416B"/>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372054" y="523145"/>
            <a:ext cx="4527362" cy="1011111"/>
          </a:xfrm>
          <a:custGeom>
            <a:avLst/>
            <a:gdLst/>
            <a:ahLst/>
            <a:cxnLst/>
            <a:rect r="r" b="b" t="t" l="l"/>
            <a:pathLst>
              <a:path h="1011111" w="4527362">
                <a:moveTo>
                  <a:pt x="0" y="0"/>
                </a:moveTo>
                <a:lnTo>
                  <a:pt x="4527362" y="0"/>
                </a:lnTo>
                <a:lnTo>
                  <a:pt x="4527362" y="1011110"/>
                </a:lnTo>
                <a:lnTo>
                  <a:pt x="0" y="10111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4746112" y="8752745"/>
            <a:ext cx="4527362" cy="1011111"/>
          </a:xfrm>
          <a:custGeom>
            <a:avLst/>
            <a:gdLst/>
            <a:ahLst/>
            <a:cxnLst/>
            <a:rect r="r" b="b" t="t" l="l"/>
            <a:pathLst>
              <a:path h="1011111" w="4527362">
                <a:moveTo>
                  <a:pt x="0" y="0"/>
                </a:moveTo>
                <a:lnTo>
                  <a:pt x="4527361" y="0"/>
                </a:lnTo>
                <a:lnTo>
                  <a:pt x="4527361" y="1011110"/>
                </a:lnTo>
                <a:lnTo>
                  <a:pt x="0" y="10111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345532" y="1292805"/>
            <a:ext cx="13596935" cy="7701389"/>
          </a:xfrm>
          <a:custGeom>
            <a:avLst/>
            <a:gdLst/>
            <a:ahLst/>
            <a:cxnLst/>
            <a:rect r="r" b="b" t="t" l="l"/>
            <a:pathLst>
              <a:path h="7701389" w="13596935">
                <a:moveTo>
                  <a:pt x="0" y="0"/>
                </a:moveTo>
                <a:lnTo>
                  <a:pt x="13596936" y="0"/>
                </a:lnTo>
                <a:lnTo>
                  <a:pt x="13596936" y="7701390"/>
                </a:lnTo>
                <a:lnTo>
                  <a:pt x="0" y="7701390"/>
                </a:lnTo>
                <a:lnTo>
                  <a:pt x="0" y="0"/>
                </a:lnTo>
                <a:close/>
              </a:path>
            </a:pathLst>
          </a:custGeom>
          <a:blipFill>
            <a:blip r:embed="rId4"/>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7416B"/>
        </a:solidFill>
      </p:bgPr>
    </p:bg>
    <p:spTree>
      <p:nvGrpSpPr>
        <p:cNvPr id="1" name=""/>
        <p:cNvGrpSpPr/>
        <p:nvPr/>
      </p:nvGrpSpPr>
      <p:grpSpPr>
        <a:xfrm>
          <a:off x="0" y="0"/>
          <a:ext cx="0" cy="0"/>
          <a:chOff x="0" y="0"/>
          <a:chExt cx="0" cy="0"/>
        </a:xfrm>
      </p:grpSpPr>
      <p:sp>
        <p:nvSpPr>
          <p:cNvPr name="Freeform 2" id="2"/>
          <p:cNvSpPr/>
          <p:nvPr/>
        </p:nvSpPr>
        <p:spPr>
          <a:xfrm flipH="true" flipV="false" rot="-10800000">
            <a:off x="14178184" y="-99681"/>
            <a:ext cx="4363296" cy="5966900"/>
          </a:xfrm>
          <a:custGeom>
            <a:avLst/>
            <a:gdLst/>
            <a:ahLst/>
            <a:cxnLst/>
            <a:rect r="r" b="b" t="t" l="l"/>
            <a:pathLst>
              <a:path h="5966900" w="4363296">
                <a:moveTo>
                  <a:pt x="4363296" y="0"/>
                </a:moveTo>
                <a:lnTo>
                  <a:pt x="0" y="0"/>
                </a:lnTo>
                <a:lnTo>
                  <a:pt x="0" y="5966900"/>
                </a:lnTo>
                <a:lnTo>
                  <a:pt x="4363296" y="5966900"/>
                </a:lnTo>
                <a:lnTo>
                  <a:pt x="436329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822439" y="4557105"/>
            <a:ext cx="10643121" cy="4387945"/>
          </a:xfrm>
          <a:custGeom>
            <a:avLst/>
            <a:gdLst/>
            <a:ahLst/>
            <a:cxnLst/>
            <a:rect r="r" b="b" t="t" l="l"/>
            <a:pathLst>
              <a:path h="4387945" w="10643121">
                <a:moveTo>
                  <a:pt x="0" y="0"/>
                </a:moveTo>
                <a:lnTo>
                  <a:pt x="10643122" y="0"/>
                </a:lnTo>
                <a:lnTo>
                  <a:pt x="10643122" y="4387945"/>
                </a:lnTo>
                <a:lnTo>
                  <a:pt x="0" y="4387945"/>
                </a:lnTo>
                <a:lnTo>
                  <a:pt x="0" y="0"/>
                </a:lnTo>
                <a:close/>
              </a:path>
            </a:pathLst>
          </a:custGeom>
          <a:blipFill>
            <a:blip r:embed="rId4"/>
            <a:stretch>
              <a:fillRect l="0" t="-14496" r="-77" b="0"/>
            </a:stretch>
          </a:blipFill>
        </p:spPr>
      </p:sp>
      <p:sp>
        <p:nvSpPr>
          <p:cNvPr name="TextBox 4" id="4"/>
          <p:cNvSpPr txBox="true"/>
          <p:nvPr/>
        </p:nvSpPr>
        <p:spPr>
          <a:xfrm rot="0">
            <a:off x="1028700" y="724864"/>
            <a:ext cx="6851940" cy="1228725"/>
          </a:xfrm>
          <a:prstGeom prst="rect">
            <a:avLst/>
          </a:prstGeom>
        </p:spPr>
        <p:txBody>
          <a:bodyPr anchor="t" rtlCol="false" tIns="0" lIns="0" bIns="0" rIns="0">
            <a:spAutoFit/>
          </a:bodyPr>
          <a:lstStyle/>
          <a:p>
            <a:pPr algn="l" marL="0" indent="0" lvl="0">
              <a:lnSpc>
                <a:spcPts val="9600"/>
              </a:lnSpc>
              <a:spcBef>
                <a:spcPct val="0"/>
              </a:spcBef>
            </a:pPr>
            <a:r>
              <a:rPr lang="en-US" b="true" sz="8000">
                <a:solidFill>
                  <a:srgbClr val="FFFFFF"/>
                </a:solidFill>
                <a:latin typeface="Raleway Bold"/>
                <a:ea typeface="Raleway Bold"/>
                <a:cs typeface="Raleway Bold"/>
                <a:sym typeface="Raleway Bold"/>
              </a:rPr>
              <a:t>Vectorización</a:t>
            </a:r>
          </a:p>
        </p:txBody>
      </p:sp>
      <p:sp>
        <p:nvSpPr>
          <p:cNvPr name="TextBox 5" id="5"/>
          <p:cNvSpPr txBox="true"/>
          <p:nvPr/>
        </p:nvSpPr>
        <p:spPr>
          <a:xfrm rot="0">
            <a:off x="2014460" y="2459700"/>
            <a:ext cx="12451101" cy="1516380"/>
          </a:xfrm>
          <a:prstGeom prst="rect">
            <a:avLst/>
          </a:prstGeom>
        </p:spPr>
        <p:txBody>
          <a:bodyPr anchor="t" rtlCol="false" tIns="0" lIns="0" bIns="0" rIns="0">
            <a:spAutoFit/>
          </a:bodyPr>
          <a:lstStyle/>
          <a:p>
            <a:pPr algn="l" marL="0" indent="0" lvl="0">
              <a:lnSpc>
                <a:spcPts val="4050"/>
              </a:lnSpc>
              <a:spcBef>
                <a:spcPct val="0"/>
              </a:spcBef>
            </a:pPr>
            <a:r>
              <a:rPr lang="en-US" sz="2700">
                <a:solidFill>
                  <a:srgbClr val="FFFFFF"/>
                </a:solidFill>
                <a:latin typeface="Montaser Arabic"/>
                <a:ea typeface="Montaser Arabic"/>
                <a:cs typeface="Montaser Arabic"/>
                <a:sym typeface="Montaser Arabic"/>
              </a:rPr>
              <a:t>Uso del modelo de embeddings para transformar fragmentos de texto en coordenadas matemáticas que capturan el significado semántico. paraphrase-multilingual-MiniLM-L12-v2"</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7416B"/>
        </a:solidFill>
      </p:bgPr>
    </p:bg>
    <p:spTree>
      <p:nvGrpSpPr>
        <p:cNvPr id="1" name=""/>
        <p:cNvGrpSpPr/>
        <p:nvPr/>
      </p:nvGrpSpPr>
      <p:grpSpPr>
        <a:xfrm>
          <a:off x="0" y="0"/>
          <a:ext cx="0" cy="0"/>
          <a:chOff x="0" y="0"/>
          <a:chExt cx="0" cy="0"/>
        </a:xfrm>
      </p:grpSpPr>
      <p:sp>
        <p:nvSpPr>
          <p:cNvPr name="Freeform 2" id="2"/>
          <p:cNvSpPr/>
          <p:nvPr/>
        </p:nvSpPr>
        <p:spPr>
          <a:xfrm flipH="true" flipV="false" rot="-10800000">
            <a:off x="14178184" y="-99681"/>
            <a:ext cx="4363296" cy="5966900"/>
          </a:xfrm>
          <a:custGeom>
            <a:avLst/>
            <a:gdLst/>
            <a:ahLst/>
            <a:cxnLst/>
            <a:rect r="r" b="b" t="t" l="l"/>
            <a:pathLst>
              <a:path h="5966900" w="4363296">
                <a:moveTo>
                  <a:pt x="4363296" y="0"/>
                </a:moveTo>
                <a:lnTo>
                  <a:pt x="0" y="0"/>
                </a:lnTo>
                <a:lnTo>
                  <a:pt x="0" y="5966900"/>
                </a:lnTo>
                <a:lnTo>
                  <a:pt x="4363296" y="5966900"/>
                </a:lnTo>
                <a:lnTo>
                  <a:pt x="436329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760499" y="5465251"/>
            <a:ext cx="4627096" cy="5712464"/>
          </a:xfrm>
          <a:custGeom>
            <a:avLst/>
            <a:gdLst/>
            <a:ahLst/>
            <a:cxnLst/>
            <a:rect r="r" b="b" t="t" l="l"/>
            <a:pathLst>
              <a:path h="5712464" w="4627096">
                <a:moveTo>
                  <a:pt x="4627096" y="0"/>
                </a:moveTo>
                <a:lnTo>
                  <a:pt x="0" y="0"/>
                </a:lnTo>
                <a:lnTo>
                  <a:pt x="0" y="5712464"/>
                </a:lnTo>
                <a:lnTo>
                  <a:pt x="4627096" y="5712464"/>
                </a:lnTo>
                <a:lnTo>
                  <a:pt x="462709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4667226" y="5143500"/>
            <a:ext cx="10840321" cy="4594433"/>
          </a:xfrm>
          <a:custGeom>
            <a:avLst/>
            <a:gdLst/>
            <a:ahLst/>
            <a:cxnLst/>
            <a:rect r="r" b="b" t="t" l="l"/>
            <a:pathLst>
              <a:path h="4594433" w="10840321">
                <a:moveTo>
                  <a:pt x="0" y="0"/>
                </a:moveTo>
                <a:lnTo>
                  <a:pt x="10840321" y="0"/>
                </a:lnTo>
                <a:lnTo>
                  <a:pt x="10840321" y="4594433"/>
                </a:lnTo>
                <a:lnTo>
                  <a:pt x="0" y="4594433"/>
                </a:lnTo>
                <a:lnTo>
                  <a:pt x="0" y="0"/>
                </a:lnTo>
                <a:close/>
              </a:path>
            </a:pathLst>
          </a:custGeom>
          <a:blipFill>
            <a:blip r:embed="rId6"/>
            <a:stretch>
              <a:fillRect l="0" t="0" r="0" b="0"/>
            </a:stretch>
          </a:blipFill>
        </p:spPr>
      </p:sp>
      <p:sp>
        <p:nvSpPr>
          <p:cNvPr name="TextBox 5" id="5"/>
          <p:cNvSpPr txBox="true"/>
          <p:nvPr/>
        </p:nvSpPr>
        <p:spPr>
          <a:xfrm rot="0">
            <a:off x="1028700" y="724864"/>
            <a:ext cx="9759135" cy="1228725"/>
          </a:xfrm>
          <a:prstGeom prst="rect">
            <a:avLst/>
          </a:prstGeom>
        </p:spPr>
        <p:txBody>
          <a:bodyPr anchor="t" rtlCol="false" tIns="0" lIns="0" bIns="0" rIns="0">
            <a:spAutoFit/>
          </a:bodyPr>
          <a:lstStyle/>
          <a:p>
            <a:pPr algn="l" marL="0" indent="0" lvl="0">
              <a:lnSpc>
                <a:spcPts val="9600"/>
              </a:lnSpc>
              <a:spcBef>
                <a:spcPct val="0"/>
              </a:spcBef>
            </a:pPr>
            <a:r>
              <a:rPr lang="en-US" b="true" sz="8000">
                <a:solidFill>
                  <a:srgbClr val="FFFFFF"/>
                </a:solidFill>
                <a:latin typeface="Raleway Bold"/>
                <a:ea typeface="Raleway Bold"/>
                <a:cs typeface="Raleway Bold"/>
                <a:sym typeface="Raleway Bold"/>
              </a:rPr>
              <a:t>Almacenamiento</a:t>
            </a:r>
          </a:p>
        </p:txBody>
      </p:sp>
      <p:sp>
        <p:nvSpPr>
          <p:cNvPr name="TextBox 6" id="6"/>
          <p:cNvSpPr txBox="true"/>
          <p:nvPr/>
        </p:nvSpPr>
        <p:spPr>
          <a:xfrm rot="0">
            <a:off x="1553049" y="2807569"/>
            <a:ext cx="9716521" cy="1584371"/>
          </a:xfrm>
          <a:prstGeom prst="rect">
            <a:avLst/>
          </a:prstGeom>
        </p:spPr>
        <p:txBody>
          <a:bodyPr anchor="t" rtlCol="false" tIns="0" lIns="0" bIns="0" rIns="0">
            <a:spAutoFit/>
          </a:bodyPr>
          <a:lstStyle/>
          <a:p>
            <a:pPr algn="l" marL="0" indent="0" lvl="0">
              <a:lnSpc>
                <a:spcPts val="4241"/>
              </a:lnSpc>
              <a:spcBef>
                <a:spcPct val="0"/>
              </a:spcBef>
            </a:pPr>
            <a:r>
              <a:rPr lang="en-US" sz="2827">
                <a:solidFill>
                  <a:srgbClr val="FFFFFF"/>
                </a:solidFill>
                <a:latin typeface="Montaser Arabic"/>
                <a:ea typeface="Montaser Arabic"/>
                <a:cs typeface="Montaser Arabic"/>
                <a:sym typeface="Montaser Arabic"/>
              </a:rPr>
              <a:t>Configuración de una base de datos vectorial local utilizando chromadb.PersistentClient para la indexación y recuperación eficiente de documentos.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7416B"/>
        </a:solidFill>
      </p:bgPr>
    </p:bg>
    <p:spTree>
      <p:nvGrpSpPr>
        <p:cNvPr id="1" name=""/>
        <p:cNvGrpSpPr/>
        <p:nvPr/>
      </p:nvGrpSpPr>
      <p:grpSpPr>
        <a:xfrm>
          <a:off x="0" y="0"/>
          <a:ext cx="0" cy="0"/>
          <a:chOff x="0" y="0"/>
          <a:chExt cx="0" cy="0"/>
        </a:xfrm>
      </p:grpSpPr>
      <p:sp>
        <p:nvSpPr>
          <p:cNvPr name="TextBox 2" id="2"/>
          <p:cNvSpPr txBox="true"/>
          <p:nvPr/>
        </p:nvSpPr>
        <p:spPr>
          <a:xfrm rot="0">
            <a:off x="10141792" y="4626551"/>
            <a:ext cx="7117508" cy="3390030"/>
          </a:xfrm>
          <a:prstGeom prst="rect">
            <a:avLst/>
          </a:prstGeom>
        </p:spPr>
        <p:txBody>
          <a:bodyPr anchor="t" rtlCol="false" tIns="0" lIns="0" bIns="0" rIns="0">
            <a:spAutoFit/>
          </a:bodyPr>
          <a:lstStyle/>
          <a:p>
            <a:pPr algn="l" marL="0" indent="0" lvl="0">
              <a:lnSpc>
                <a:spcPts val="4498"/>
              </a:lnSpc>
              <a:spcBef>
                <a:spcPct val="0"/>
              </a:spcBef>
            </a:pPr>
            <a:r>
              <a:rPr lang="en-US" sz="2999">
                <a:solidFill>
                  <a:srgbClr val="FFFFFF"/>
                </a:solidFill>
                <a:latin typeface="Montaser Arabic"/>
                <a:ea typeface="Montaser Arabic"/>
                <a:cs typeface="Montaser Arabic"/>
                <a:sym typeface="Montaser Arabic"/>
              </a:rPr>
              <a:t>Integración de un Modelo de Lenguaje de Grande (LLM) a través de Ollama (con Llama 3) o con Groq para redactar las respuestas finales basadas estrictamente en el contexto recuperado.</a:t>
            </a:r>
          </a:p>
        </p:txBody>
      </p:sp>
      <p:sp>
        <p:nvSpPr>
          <p:cNvPr name="TextBox 3" id="3"/>
          <p:cNvSpPr txBox="true"/>
          <p:nvPr/>
        </p:nvSpPr>
        <p:spPr>
          <a:xfrm rot="0">
            <a:off x="1028700" y="724864"/>
            <a:ext cx="9759135" cy="1228725"/>
          </a:xfrm>
          <a:prstGeom prst="rect">
            <a:avLst/>
          </a:prstGeom>
        </p:spPr>
        <p:txBody>
          <a:bodyPr anchor="t" rtlCol="false" tIns="0" lIns="0" bIns="0" rIns="0">
            <a:spAutoFit/>
          </a:bodyPr>
          <a:lstStyle/>
          <a:p>
            <a:pPr algn="l" marL="0" indent="0" lvl="0">
              <a:lnSpc>
                <a:spcPts val="9600"/>
              </a:lnSpc>
              <a:spcBef>
                <a:spcPct val="0"/>
              </a:spcBef>
            </a:pPr>
            <a:r>
              <a:rPr lang="en-US" b="true" sz="8000">
                <a:solidFill>
                  <a:srgbClr val="FFFFFF"/>
                </a:solidFill>
                <a:latin typeface="Raleway Bold"/>
                <a:ea typeface="Raleway Bold"/>
                <a:cs typeface="Raleway Bold"/>
                <a:sym typeface="Raleway Bold"/>
              </a:rPr>
              <a:t>Integración LLM</a:t>
            </a:r>
          </a:p>
        </p:txBody>
      </p:sp>
      <p:sp>
        <p:nvSpPr>
          <p:cNvPr name="Freeform 4" id="4"/>
          <p:cNvSpPr/>
          <p:nvPr/>
        </p:nvSpPr>
        <p:spPr>
          <a:xfrm flipH="true" flipV="false" rot="-10800000">
            <a:off x="14178184" y="-99681"/>
            <a:ext cx="4363296" cy="5966900"/>
          </a:xfrm>
          <a:custGeom>
            <a:avLst/>
            <a:gdLst/>
            <a:ahLst/>
            <a:cxnLst/>
            <a:rect r="r" b="b" t="t" l="l"/>
            <a:pathLst>
              <a:path h="5966900" w="4363296">
                <a:moveTo>
                  <a:pt x="4363296" y="0"/>
                </a:moveTo>
                <a:lnTo>
                  <a:pt x="0" y="0"/>
                </a:lnTo>
                <a:lnTo>
                  <a:pt x="0" y="5966900"/>
                </a:lnTo>
                <a:lnTo>
                  <a:pt x="4363296" y="5966900"/>
                </a:lnTo>
                <a:lnTo>
                  <a:pt x="436329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false" rot="0">
            <a:off x="-984129" y="5316164"/>
            <a:ext cx="4627096" cy="5712464"/>
          </a:xfrm>
          <a:custGeom>
            <a:avLst/>
            <a:gdLst/>
            <a:ahLst/>
            <a:cxnLst/>
            <a:rect r="r" b="b" t="t" l="l"/>
            <a:pathLst>
              <a:path h="5712464" w="4627096">
                <a:moveTo>
                  <a:pt x="4627095" y="0"/>
                </a:moveTo>
                <a:lnTo>
                  <a:pt x="0" y="0"/>
                </a:lnTo>
                <a:lnTo>
                  <a:pt x="0" y="5712465"/>
                </a:lnTo>
                <a:lnTo>
                  <a:pt x="4627095" y="5712465"/>
                </a:lnTo>
                <a:lnTo>
                  <a:pt x="4627095"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7416B"/>
        </a:solidFill>
      </p:bgPr>
    </p:bg>
    <p:spTree>
      <p:nvGrpSpPr>
        <p:cNvPr id="1" name=""/>
        <p:cNvGrpSpPr/>
        <p:nvPr/>
      </p:nvGrpSpPr>
      <p:grpSpPr>
        <a:xfrm>
          <a:off x="0" y="0"/>
          <a:ext cx="0" cy="0"/>
          <a:chOff x="0" y="0"/>
          <a:chExt cx="0" cy="0"/>
        </a:xfrm>
      </p:grpSpPr>
      <p:sp>
        <p:nvSpPr>
          <p:cNvPr name="Freeform 2" id="2"/>
          <p:cNvSpPr/>
          <p:nvPr/>
        </p:nvSpPr>
        <p:spPr>
          <a:xfrm flipH="true" flipV="false" rot="-10800000">
            <a:off x="14178184" y="-99681"/>
            <a:ext cx="4363296" cy="5966900"/>
          </a:xfrm>
          <a:custGeom>
            <a:avLst/>
            <a:gdLst/>
            <a:ahLst/>
            <a:cxnLst/>
            <a:rect r="r" b="b" t="t" l="l"/>
            <a:pathLst>
              <a:path h="5966900" w="4363296">
                <a:moveTo>
                  <a:pt x="4363296" y="0"/>
                </a:moveTo>
                <a:lnTo>
                  <a:pt x="0" y="0"/>
                </a:lnTo>
                <a:lnTo>
                  <a:pt x="0" y="5966900"/>
                </a:lnTo>
                <a:lnTo>
                  <a:pt x="4363296" y="5966900"/>
                </a:lnTo>
                <a:lnTo>
                  <a:pt x="4363296"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aphicFrame>
        <p:nvGraphicFramePr>
          <p:cNvPr name="Object 3" id="3"/>
          <p:cNvGraphicFramePr/>
          <p:nvPr/>
        </p:nvGraphicFramePr>
        <p:xfrm>
          <a:off x="2626438" y="3855736"/>
          <a:ext cx="5657850" cy="3143250"/>
        </p:xfrm>
        <a:graphic>
          <a:graphicData uri="http://schemas.openxmlformats.org/presentationml/2006/ole">
            <p:oleObj imgW="6781800" imgH="42672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sp>
        <p:nvSpPr>
          <p:cNvPr name="TextBox 4" id="4"/>
          <p:cNvSpPr txBox="true"/>
          <p:nvPr/>
        </p:nvSpPr>
        <p:spPr>
          <a:xfrm rot="0">
            <a:off x="813953" y="1826078"/>
            <a:ext cx="12744428" cy="2029658"/>
          </a:xfrm>
          <a:prstGeom prst="rect">
            <a:avLst/>
          </a:prstGeom>
        </p:spPr>
        <p:txBody>
          <a:bodyPr anchor="t" rtlCol="false" tIns="0" lIns="0" bIns="0" rIns="0">
            <a:spAutoFit/>
          </a:bodyPr>
          <a:lstStyle/>
          <a:p>
            <a:pPr algn="l" marL="0" indent="0" lvl="0">
              <a:lnSpc>
                <a:spcPts val="4028"/>
              </a:lnSpc>
              <a:spcBef>
                <a:spcPct val="0"/>
              </a:spcBef>
            </a:pPr>
            <a:r>
              <a:rPr lang="en-US" sz="2685">
                <a:solidFill>
                  <a:srgbClr val="FFFFFF"/>
                </a:solidFill>
                <a:latin typeface="Montaser Arabic"/>
                <a:ea typeface="Montaser Arabic"/>
                <a:cs typeface="Montaser Arabic"/>
                <a:sym typeface="Montaser Arabic"/>
              </a:rPr>
              <a:t>Se trabajó con NLTK sin embargo, se optó por descartar esta alternativa debido a que su análisis se basa en coincidencias de palabras exactas, lo que limita su capacidad para interpretar el contexto o el significado semántico.</a:t>
            </a:r>
          </a:p>
        </p:txBody>
      </p:sp>
      <p:sp>
        <p:nvSpPr>
          <p:cNvPr name="TextBox 5" id="5"/>
          <p:cNvSpPr txBox="true"/>
          <p:nvPr/>
        </p:nvSpPr>
        <p:spPr>
          <a:xfrm rot="0">
            <a:off x="1028700" y="734389"/>
            <a:ext cx="9146707" cy="729829"/>
          </a:xfrm>
          <a:prstGeom prst="rect">
            <a:avLst/>
          </a:prstGeom>
        </p:spPr>
        <p:txBody>
          <a:bodyPr anchor="t" rtlCol="false" tIns="0" lIns="0" bIns="0" rIns="0">
            <a:spAutoFit/>
          </a:bodyPr>
          <a:lstStyle/>
          <a:p>
            <a:pPr algn="l" marL="0" indent="0" lvl="0">
              <a:lnSpc>
                <a:spcPts val="5746"/>
              </a:lnSpc>
              <a:spcBef>
                <a:spcPct val="0"/>
              </a:spcBef>
            </a:pPr>
            <a:r>
              <a:rPr lang="en-US" b="true" sz="4788">
                <a:solidFill>
                  <a:srgbClr val="FFFFFF"/>
                </a:solidFill>
                <a:latin typeface="Raleway Bold"/>
                <a:ea typeface="Raleway Bold"/>
                <a:cs typeface="Raleway Bold"/>
                <a:sym typeface="Raleway Bold"/>
              </a:rPr>
              <a:t>¿Por qué ChromaDB + LLM?</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7416B"/>
        </a:solidFill>
      </p:bgPr>
    </p:bg>
    <p:spTree>
      <p:nvGrpSpPr>
        <p:cNvPr id="1" name=""/>
        <p:cNvGrpSpPr/>
        <p:nvPr/>
      </p:nvGrpSpPr>
      <p:grpSpPr>
        <a:xfrm>
          <a:off x="0" y="0"/>
          <a:ext cx="0" cy="0"/>
          <a:chOff x="0" y="0"/>
          <a:chExt cx="0" cy="0"/>
        </a:xfrm>
      </p:grpSpPr>
      <p:sp>
        <p:nvSpPr>
          <p:cNvPr name="Freeform 2" id="2"/>
          <p:cNvSpPr/>
          <p:nvPr/>
        </p:nvSpPr>
        <p:spPr>
          <a:xfrm flipH="true" flipV="false" rot="-10800000">
            <a:off x="14178184" y="-99681"/>
            <a:ext cx="4363296" cy="5966900"/>
          </a:xfrm>
          <a:custGeom>
            <a:avLst/>
            <a:gdLst/>
            <a:ahLst/>
            <a:cxnLst/>
            <a:rect r="r" b="b" t="t" l="l"/>
            <a:pathLst>
              <a:path h="5966900" w="4363296">
                <a:moveTo>
                  <a:pt x="4363296" y="0"/>
                </a:moveTo>
                <a:lnTo>
                  <a:pt x="0" y="0"/>
                </a:lnTo>
                <a:lnTo>
                  <a:pt x="0" y="5966900"/>
                </a:lnTo>
                <a:lnTo>
                  <a:pt x="4363296" y="5966900"/>
                </a:lnTo>
                <a:lnTo>
                  <a:pt x="436329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357298" y="3538552"/>
            <a:ext cx="11300577" cy="6440114"/>
          </a:xfrm>
          <a:custGeom>
            <a:avLst/>
            <a:gdLst/>
            <a:ahLst/>
            <a:cxnLst/>
            <a:rect r="r" b="b" t="t" l="l"/>
            <a:pathLst>
              <a:path h="6440114" w="11300577">
                <a:moveTo>
                  <a:pt x="0" y="0"/>
                </a:moveTo>
                <a:lnTo>
                  <a:pt x="11300578" y="0"/>
                </a:lnTo>
                <a:lnTo>
                  <a:pt x="11300578" y="6440114"/>
                </a:lnTo>
                <a:lnTo>
                  <a:pt x="0" y="6440114"/>
                </a:lnTo>
                <a:lnTo>
                  <a:pt x="0" y="0"/>
                </a:lnTo>
                <a:close/>
              </a:path>
            </a:pathLst>
          </a:custGeom>
          <a:blipFill>
            <a:blip r:embed="rId4"/>
            <a:stretch>
              <a:fillRect l="0" t="0" r="0" b="0"/>
            </a:stretch>
          </a:blipFill>
        </p:spPr>
      </p:sp>
      <p:sp>
        <p:nvSpPr>
          <p:cNvPr name="TextBox 4" id="4"/>
          <p:cNvSpPr txBox="true"/>
          <p:nvPr/>
        </p:nvSpPr>
        <p:spPr>
          <a:xfrm rot="0">
            <a:off x="987888" y="2236069"/>
            <a:ext cx="9840760" cy="1584371"/>
          </a:xfrm>
          <a:prstGeom prst="rect">
            <a:avLst/>
          </a:prstGeom>
        </p:spPr>
        <p:txBody>
          <a:bodyPr anchor="t" rtlCol="false" tIns="0" lIns="0" bIns="0" rIns="0">
            <a:spAutoFit/>
          </a:bodyPr>
          <a:lstStyle/>
          <a:p>
            <a:pPr algn="l" marL="0" indent="0" lvl="0">
              <a:lnSpc>
                <a:spcPts val="4241"/>
              </a:lnSpc>
              <a:spcBef>
                <a:spcPct val="0"/>
              </a:spcBef>
            </a:pPr>
            <a:r>
              <a:rPr lang="en-US" sz="2827">
                <a:solidFill>
                  <a:srgbClr val="FFFFFF"/>
                </a:solidFill>
                <a:latin typeface="Montaser Arabic"/>
                <a:ea typeface="Montaser Arabic"/>
                <a:cs typeface="Montaser Arabic"/>
                <a:sym typeface="Montaser Arabic"/>
              </a:rPr>
              <a:t>Comprobar que el sistema responde con precisión, cumple con los requerimientos y evita respuestas erróneas.</a:t>
            </a:r>
          </a:p>
        </p:txBody>
      </p:sp>
      <p:sp>
        <p:nvSpPr>
          <p:cNvPr name="TextBox 5" id="5"/>
          <p:cNvSpPr txBox="true"/>
          <p:nvPr/>
        </p:nvSpPr>
        <p:spPr>
          <a:xfrm rot="0">
            <a:off x="1028700" y="724864"/>
            <a:ext cx="9759135" cy="1228725"/>
          </a:xfrm>
          <a:prstGeom prst="rect">
            <a:avLst/>
          </a:prstGeom>
        </p:spPr>
        <p:txBody>
          <a:bodyPr anchor="t" rtlCol="false" tIns="0" lIns="0" bIns="0" rIns="0">
            <a:spAutoFit/>
          </a:bodyPr>
          <a:lstStyle/>
          <a:p>
            <a:pPr algn="l" marL="0" indent="0" lvl="0">
              <a:lnSpc>
                <a:spcPts val="9600"/>
              </a:lnSpc>
              <a:spcBef>
                <a:spcPct val="0"/>
              </a:spcBef>
            </a:pPr>
            <a:r>
              <a:rPr lang="en-US" b="true" sz="8000">
                <a:solidFill>
                  <a:srgbClr val="FFFFFF"/>
                </a:solidFill>
                <a:latin typeface="Raleway Bold"/>
                <a:ea typeface="Raleway Bold"/>
                <a:cs typeface="Raleway Bold"/>
                <a:sym typeface="Raleway Bold"/>
              </a:rPr>
              <a:t>Evaluación</a:t>
            </a:r>
          </a:p>
        </p:txBody>
      </p:sp>
      <p:sp>
        <p:nvSpPr>
          <p:cNvPr name="Freeform 6" id="6"/>
          <p:cNvSpPr/>
          <p:nvPr/>
        </p:nvSpPr>
        <p:spPr>
          <a:xfrm flipH="true" flipV="false" rot="0">
            <a:off x="-362934" y="4868904"/>
            <a:ext cx="4627096" cy="5712464"/>
          </a:xfrm>
          <a:custGeom>
            <a:avLst/>
            <a:gdLst/>
            <a:ahLst/>
            <a:cxnLst/>
            <a:rect r="r" b="b" t="t" l="l"/>
            <a:pathLst>
              <a:path h="5712464" w="4627096">
                <a:moveTo>
                  <a:pt x="4627096" y="0"/>
                </a:moveTo>
                <a:lnTo>
                  <a:pt x="0" y="0"/>
                </a:lnTo>
                <a:lnTo>
                  <a:pt x="0" y="5712464"/>
                </a:lnTo>
                <a:lnTo>
                  <a:pt x="4627096" y="5712464"/>
                </a:lnTo>
                <a:lnTo>
                  <a:pt x="4627096"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7416B"/>
        </a:solidFill>
      </p:bgPr>
    </p:bg>
    <p:spTree>
      <p:nvGrpSpPr>
        <p:cNvPr id="1" name=""/>
        <p:cNvGrpSpPr/>
        <p:nvPr/>
      </p:nvGrpSpPr>
      <p:grpSpPr>
        <a:xfrm>
          <a:off x="0" y="0"/>
          <a:ext cx="0" cy="0"/>
          <a:chOff x="0" y="0"/>
          <a:chExt cx="0" cy="0"/>
        </a:xfrm>
      </p:grpSpPr>
      <p:sp>
        <p:nvSpPr>
          <p:cNvPr name="TextBox 2" id="2"/>
          <p:cNvSpPr txBox="true"/>
          <p:nvPr/>
        </p:nvSpPr>
        <p:spPr>
          <a:xfrm rot="0">
            <a:off x="-1878496" y="206606"/>
            <a:ext cx="16230600" cy="1228725"/>
          </a:xfrm>
          <a:prstGeom prst="rect">
            <a:avLst/>
          </a:prstGeom>
        </p:spPr>
        <p:txBody>
          <a:bodyPr anchor="t" rtlCol="false" tIns="0" lIns="0" bIns="0" rIns="0">
            <a:spAutoFit/>
          </a:bodyPr>
          <a:lstStyle/>
          <a:p>
            <a:pPr algn="ctr" marL="0" indent="0" lvl="0">
              <a:lnSpc>
                <a:spcPts val="9600"/>
              </a:lnSpc>
              <a:spcBef>
                <a:spcPct val="0"/>
              </a:spcBef>
            </a:pPr>
            <a:r>
              <a:rPr lang="en-US" b="true" sz="8000">
                <a:solidFill>
                  <a:srgbClr val="FFFFFF"/>
                </a:solidFill>
                <a:latin typeface="Raleway Bold"/>
                <a:ea typeface="Raleway Bold"/>
                <a:cs typeface="Raleway Bold"/>
                <a:sym typeface="Raleway Bold"/>
              </a:rPr>
              <a:t>Despliegue</a:t>
            </a:r>
          </a:p>
        </p:txBody>
      </p:sp>
      <p:sp>
        <p:nvSpPr>
          <p:cNvPr name="Freeform 3" id="3"/>
          <p:cNvSpPr/>
          <p:nvPr/>
        </p:nvSpPr>
        <p:spPr>
          <a:xfrm flipH="false" flipV="false" rot="-10800000">
            <a:off x="14746112" y="8752745"/>
            <a:ext cx="4527362" cy="1011111"/>
          </a:xfrm>
          <a:custGeom>
            <a:avLst/>
            <a:gdLst/>
            <a:ahLst/>
            <a:cxnLst/>
            <a:rect r="r" b="b" t="t" l="l"/>
            <a:pathLst>
              <a:path h="1011111" w="4527362">
                <a:moveTo>
                  <a:pt x="0" y="0"/>
                </a:moveTo>
                <a:lnTo>
                  <a:pt x="4527361" y="0"/>
                </a:lnTo>
                <a:lnTo>
                  <a:pt x="4527361" y="1011110"/>
                </a:lnTo>
                <a:lnTo>
                  <a:pt x="0" y="10111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400000">
            <a:off x="-1595510" y="1393187"/>
            <a:ext cx="4527362" cy="1011111"/>
          </a:xfrm>
          <a:custGeom>
            <a:avLst/>
            <a:gdLst/>
            <a:ahLst/>
            <a:cxnLst/>
            <a:rect r="r" b="b" t="t" l="l"/>
            <a:pathLst>
              <a:path h="1011111" w="4527362">
                <a:moveTo>
                  <a:pt x="0" y="0"/>
                </a:moveTo>
                <a:lnTo>
                  <a:pt x="4527362" y="0"/>
                </a:lnTo>
                <a:lnTo>
                  <a:pt x="4527362" y="1011111"/>
                </a:lnTo>
                <a:lnTo>
                  <a:pt x="0" y="101111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false" rot="0">
            <a:off x="14957088" y="-57134"/>
            <a:ext cx="3564095" cy="2984930"/>
          </a:xfrm>
          <a:custGeom>
            <a:avLst/>
            <a:gdLst/>
            <a:ahLst/>
            <a:cxnLst/>
            <a:rect r="r" b="b" t="t" l="l"/>
            <a:pathLst>
              <a:path h="2984930" w="3564095">
                <a:moveTo>
                  <a:pt x="3564095" y="0"/>
                </a:moveTo>
                <a:lnTo>
                  <a:pt x="0" y="0"/>
                </a:lnTo>
                <a:lnTo>
                  <a:pt x="0" y="2984930"/>
                </a:lnTo>
                <a:lnTo>
                  <a:pt x="3564095" y="2984930"/>
                </a:lnTo>
                <a:lnTo>
                  <a:pt x="3564095"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6510130" y="3757129"/>
            <a:ext cx="6180661" cy="6180661"/>
          </a:xfrm>
          <a:custGeom>
            <a:avLst/>
            <a:gdLst/>
            <a:ahLst/>
            <a:cxnLst/>
            <a:rect r="r" b="b" t="t" l="l"/>
            <a:pathLst>
              <a:path h="6180661" w="6180661">
                <a:moveTo>
                  <a:pt x="0" y="0"/>
                </a:moveTo>
                <a:lnTo>
                  <a:pt x="6180661" y="0"/>
                </a:lnTo>
                <a:lnTo>
                  <a:pt x="6180661" y="6180661"/>
                </a:lnTo>
                <a:lnTo>
                  <a:pt x="0" y="6180661"/>
                </a:lnTo>
                <a:lnTo>
                  <a:pt x="0" y="0"/>
                </a:lnTo>
                <a:close/>
              </a:path>
            </a:pathLst>
          </a:custGeom>
          <a:blipFill>
            <a:blip r:embed="rId6"/>
            <a:stretch>
              <a:fillRect l="-50000" t="0" r="-49999" b="0"/>
            </a:stretch>
          </a:blipFill>
        </p:spPr>
      </p:sp>
      <p:sp>
        <p:nvSpPr>
          <p:cNvPr name="TextBox 7" id="7"/>
          <p:cNvSpPr txBox="true"/>
          <p:nvPr/>
        </p:nvSpPr>
        <p:spPr>
          <a:xfrm rot="0">
            <a:off x="2056839" y="1822543"/>
            <a:ext cx="13379191" cy="2661636"/>
          </a:xfrm>
          <a:prstGeom prst="rect">
            <a:avLst/>
          </a:prstGeom>
        </p:spPr>
        <p:txBody>
          <a:bodyPr anchor="t" rtlCol="false" tIns="0" lIns="0" bIns="0" rIns="0">
            <a:spAutoFit/>
          </a:bodyPr>
          <a:lstStyle/>
          <a:p>
            <a:pPr algn="l">
              <a:lnSpc>
                <a:spcPts val="4241"/>
              </a:lnSpc>
              <a:spcBef>
                <a:spcPct val="0"/>
              </a:spcBef>
            </a:pPr>
            <a:r>
              <a:rPr lang="en-US" sz="2827">
                <a:solidFill>
                  <a:srgbClr val="FFFFFF"/>
                </a:solidFill>
                <a:latin typeface="Montaser Arabic"/>
                <a:ea typeface="Montaser Arabic"/>
                <a:cs typeface="Montaser Arabic"/>
                <a:sym typeface="Montaser Arabic"/>
              </a:rPr>
              <a:t>Integración final del pipeline RAG con la interfaz de mensajería (WhatsApp), permitiendo que el asistente funcione en tiempo real como una herramienta de apoyo administrativo operativa para los docentes del plantel.</a:t>
            </a:r>
          </a:p>
          <a:p>
            <a:pPr algn="l" marL="0" indent="0" lvl="0">
              <a:lnSpc>
                <a:spcPts val="4241"/>
              </a:lnSpc>
              <a:spcBef>
                <a:spcPct val="0"/>
              </a:spcBef>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7416B"/>
        </a:solidFill>
      </p:bgPr>
    </p:bg>
    <p:spTree>
      <p:nvGrpSpPr>
        <p:cNvPr id="1" name=""/>
        <p:cNvGrpSpPr/>
        <p:nvPr/>
      </p:nvGrpSpPr>
      <p:grpSpPr>
        <a:xfrm>
          <a:off x="0" y="0"/>
          <a:ext cx="0" cy="0"/>
          <a:chOff x="0" y="0"/>
          <a:chExt cx="0" cy="0"/>
        </a:xfrm>
      </p:grpSpPr>
      <p:sp>
        <p:nvSpPr>
          <p:cNvPr name="TextBox 2" id="2"/>
          <p:cNvSpPr txBox="true"/>
          <p:nvPr/>
        </p:nvSpPr>
        <p:spPr>
          <a:xfrm rot="0">
            <a:off x="771525" y="3352165"/>
            <a:ext cx="16744950" cy="3086100"/>
          </a:xfrm>
          <a:prstGeom prst="rect">
            <a:avLst/>
          </a:prstGeom>
        </p:spPr>
        <p:txBody>
          <a:bodyPr anchor="t" rtlCol="false" tIns="0" lIns="0" bIns="0" rIns="0">
            <a:spAutoFit/>
          </a:bodyPr>
          <a:lstStyle/>
          <a:p>
            <a:pPr algn="ctr" marL="0" indent="0" lvl="0">
              <a:lnSpc>
                <a:spcPts val="25199"/>
              </a:lnSpc>
              <a:spcBef>
                <a:spcPct val="0"/>
              </a:spcBef>
            </a:pPr>
            <a:r>
              <a:rPr lang="en-US" b="true" sz="18000">
                <a:solidFill>
                  <a:srgbClr val="FFFFFF"/>
                </a:solidFill>
                <a:latin typeface="Raleway Bold"/>
                <a:ea typeface="Raleway Bold"/>
                <a:cs typeface="Raleway Bold"/>
                <a:sym typeface="Raleway Bold"/>
              </a:rPr>
              <a:t>¡Gracias!</a:t>
            </a:r>
          </a:p>
        </p:txBody>
      </p:sp>
      <p:sp>
        <p:nvSpPr>
          <p:cNvPr name="Freeform 3" id="3"/>
          <p:cNvSpPr/>
          <p:nvPr/>
        </p:nvSpPr>
        <p:spPr>
          <a:xfrm flipH="false" flipV="false" rot="0">
            <a:off x="12947146" y="3552472"/>
            <a:ext cx="5571779" cy="6878740"/>
          </a:xfrm>
          <a:custGeom>
            <a:avLst/>
            <a:gdLst/>
            <a:ahLst/>
            <a:cxnLst/>
            <a:rect r="r" b="b" t="t" l="l"/>
            <a:pathLst>
              <a:path h="6878740" w="5571779">
                <a:moveTo>
                  <a:pt x="0" y="0"/>
                </a:moveTo>
                <a:lnTo>
                  <a:pt x="5571779" y="0"/>
                </a:lnTo>
                <a:lnTo>
                  <a:pt x="5571779" y="6878739"/>
                </a:lnTo>
                <a:lnTo>
                  <a:pt x="0" y="687873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10800000">
            <a:off x="0" y="0"/>
            <a:ext cx="4363296" cy="5966900"/>
          </a:xfrm>
          <a:custGeom>
            <a:avLst/>
            <a:gdLst/>
            <a:ahLst/>
            <a:cxnLst/>
            <a:rect r="r" b="b" t="t" l="l"/>
            <a:pathLst>
              <a:path h="5966900" w="4363296">
                <a:moveTo>
                  <a:pt x="0" y="0"/>
                </a:moveTo>
                <a:lnTo>
                  <a:pt x="4363296" y="0"/>
                </a:lnTo>
                <a:lnTo>
                  <a:pt x="4363296" y="5966900"/>
                </a:lnTo>
                <a:lnTo>
                  <a:pt x="0" y="59669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DAHR3Xkn9AU</dc:identifier>
  <dcterms:modified xsi:type="dcterms:W3CDTF">2011-08-01T06:04:30Z</dcterms:modified>
  <cp:revision>1</cp:revision>
  <dc:title>Proyecto integrador</dc:title>
</cp:coreProperties>
</file>